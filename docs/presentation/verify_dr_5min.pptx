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Opening. The title says the whole thesis: this project is not about grading diabetic retinopathy more accurately. It is about knowing when an automated grade can be trusted. Five minutes, nine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What the disease is. Painless until advanced, which is why screening matters. The 0-4 scale at the bottom is what the model predicts. Point out that grade 2 is the clinically operative threshold - that is where a patient gets referred.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[1:00-1:40] The bottleneck is human grader time, and most of that time is spent on normal images. So automation is obvious. But the moment you automate, you inherit a new problem: which automated reads do you still send to a human? That question is my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[1:40-2:25] Three failures. The first is the important one and it is a structural problem, not an engineering one: you cannot ask a model to audit itself using the same numbers that produced the error. That observation is what the whole project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[2:25-3:15] The core idea. Two networks, deliberately kept independent - different architecture, different training data, different kind of label. One reads the whole image, the other finds individual lesions. When they disagree, that disagreement carries information the first model's own confidence score cannot contain. Four possible outcomes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[3:15-3:55] This is the slide that sells the project. A confident normal read, contradicted by an independent pathway that found lesions. Confidence gating accepts it; disagreement gating catches it. Note the right-hand box is falsifiable - a clinician can count the haemorrhages and tell me I am wrong. A heatmap cannot be argued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[3:55-4:30] Five phase groups over twenty weeks, about 100 GPU-hours - it fits inside Kaggle's free quota. Phase 4 is the one to emphasise: I pre-register the frozen model before I am allowed to look at the external datasets, and I only get to look once. That discipline is what lets me report a negative result honestly instead of quietly tuning until something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[4:30-4:50] Twenty-six experiments, but only three actually decide whether the thesis works. F2 is the headline - does the idea survive a dataset change. E2 is the control that proves my explanations are causal rather than decorative. C4 checks the premise: the evidence pathway has to be useful but weaker than the grader, or the whole argument collapses.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[4:50-5:00] Close. Three contributions. And the last line is the one I would want a supervisor to hold me to: because I commit to the hypotheses before I look at the data, I can report that the idea did not work and that is still a thesis.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B"/>
        </a:solidFill>
      </p:bgPr>
    </p:bg>
    <p:spTree>
      <p:nvGrpSpPr>
        <p:cNvPr id="1" name=""/>
        <p:cNvGrpSpPr/>
        <p:nvPr/>
      </p:nvGrpSpPr>
      <p:grpSpPr>
        <a:xfrm>
          <a:off x="0" y="0"/>
          <a:ext cx="0" cy="0"/>
          <a:chOff x="0" y="0"/>
          <a:chExt cx="0" cy="0"/>
        </a:xfrm>
      </p:grpSpPr>
      <p:sp>
        <p:nvSpPr>
          <p:cNvPr id="2" name="Shape 0"/>
          <p:cNvSpPr/>
          <p:nvPr/>
        </p:nvSpPr>
        <p:spPr>
          <a:xfrm>
            <a:off x="8869680" y="3108960"/>
            <a:ext cx="4937760" cy="4937760"/>
          </a:xfrm>
          <a:prstGeom prst="ellipse">
            <a:avLst/>
          </a:prstGeom>
          <a:solidFill>
            <a:srgbClr val="E8833A">
              <a:alpha val="14000"/>
            </a:srgbClr>
          </a:solidFill>
          <a:ln w="12700">
            <a:solidFill>
              <a:srgbClr val="E8833A">
                <a:alpha val="0"/>
              </a:srgbClr>
            </a:solidFill>
            <a:prstDash val="solid"/>
          </a:ln>
        </p:spPr>
      </p:sp>
      <p:sp>
        <p:nvSpPr>
          <p:cNvPr id="3" name="Shape 1"/>
          <p:cNvSpPr/>
          <p:nvPr/>
        </p:nvSpPr>
        <p:spPr>
          <a:xfrm>
            <a:off x="10058400" y="4297680"/>
            <a:ext cx="2560320" cy="2560320"/>
          </a:xfrm>
          <a:prstGeom prst="ellipse">
            <a:avLst/>
          </a:prstGeom>
          <a:solidFill>
            <a:srgbClr val="E8833A">
              <a:alpha val="28000"/>
            </a:srgbClr>
          </a:solidFill>
          <a:ln w="12700">
            <a:solidFill>
              <a:srgbClr val="E8833A">
                <a:alpha val="0"/>
              </a:srgbClr>
            </a:solidFill>
            <a:prstDash val="solid"/>
          </a:ln>
        </p:spPr>
      </p:sp>
      <p:sp>
        <p:nvSpPr>
          <p:cNvPr id="4" name="Text 2"/>
          <p:cNvSpPr txBox="1"/>
          <p:nvPr/>
        </p:nvSpPr>
        <p:spPr>
          <a:xfrm>
            <a:off x="822960" y="1600200"/>
            <a:ext cx="7772400" cy="320040"/>
          </a:xfrm>
          <a:prstGeom prst="rect">
            <a:avLst/>
          </a:prstGeom>
          <a:noFill/>
          <a:ln/>
        </p:spPr>
        <p:txBody>
          <a:bodyPr wrap="square" lIns="0" tIns="0" rIns="0" bIns="0" rtlCol="0" anchor="ctr"/>
          <a:lstStyle/>
          <a:p>
            <a:pPr indent="0" marL="0">
              <a:buNone/>
            </a:pPr>
            <a:r>
              <a:rPr lang="en-US" sz="1200" b="1" spc="300" kern="0" dirty="0">
                <a:solidFill>
                  <a:srgbClr val="E8833A"/>
                </a:solidFill>
                <a:latin typeface="Calibri" pitchFamily="34" charset="0"/>
                <a:ea typeface="Calibri" pitchFamily="34" charset="-122"/>
                <a:cs typeface="Calibri" pitchFamily="34" charset="-120"/>
              </a:rPr>
              <a:t>MSc THESIS PROJECT</a:t>
            </a:r>
            <a:endParaRPr lang="en-US" sz="1200" dirty="0"/>
          </a:p>
        </p:txBody>
      </p:sp>
      <p:sp>
        <p:nvSpPr>
          <p:cNvPr id="5" name="Text 3"/>
          <p:cNvSpPr txBox="1"/>
          <p:nvPr/>
        </p:nvSpPr>
        <p:spPr>
          <a:xfrm>
            <a:off x="822960" y="1965960"/>
            <a:ext cx="82296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VERIFY-DR</a:t>
            </a:r>
            <a:endParaRPr lang="en-US" sz="5400" dirty="0"/>
          </a:p>
        </p:txBody>
      </p:sp>
      <p:sp>
        <p:nvSpPr>
          <p:cNvPr id="6" name="Text 4"/>
          <p:cNvSpPr txBox="1"/>
          <p:nvPr/>
        </p:nvSpPr>
        <p:spPr>
          <a:xfrm>
            <a:off x="822960" y="3035808"/>
            <a:ext cx="7863840" cy="822960"/>
          </a:xfrm>
          <a:prstGeom prst="rect">
            <a:avLst/>
          </a:prstGeom>
          <a:noFill/>
          <a:ln/>
        </p:spPr>
        <p:txBody>
          <a:bodyPr wrap="square" lIns="0" tIns="0" rIns="0" bIns="0" rtlCol="0" anchor="ctr"/>
          <a:lstStyle/>
          <a:p>
            <a:pPr indent="0" marL="0">
              <a:lnSpc>
                <a:spcPts val="2600"/>
              </a:lnSpc>
              <a:buNone/>
            </a:pPr>
            <a:r>
              <a:rPr lang="en-US" sz="1900" dirty="0">
                <a:solidFill>
                  <a:srgbClr val="A8C5D6"/>
                </a:solidFill>
                <a:latin typeface="Calibri" pitchFamily="34" charset="0"/>
                <a:ea typeface="Calibri" pitchFamily="34" charset="-122"/>
                <a:cs typeface="Calibri" pitchFamily="34" charset="-120"/>
              </a:rPr>
              <a:t>Knowing when to trust an automated diabetic retinopathy grade</a:t>
            </a:r>
            <a:endParaRPr lang="en-US" sz="1900" dirty="0"/>
          </a:p>
        </p:txBody>
      </p:sp>
      <p:sp>
        <p:nvSpPr>
          <p:cNvPr id="7" name="Text 5"/>
          <p:cNvSpPr txBox="1"/>
          <p:nvPr/>
        </p:nvSpPr>
        <p:spPr>
          <a:xfrm>
            <a:off x="822960" y="4069080"/>
            <a:ext cx="7863840" cy="320040"/>
          </a:xfrm>
          <a:prstGeom prst="rect">
            <a:avLst/>
          </a:prstGeom>
          <a:noFill/>
          <a:ln/>
        </p:spPr>
        <p:txBody>
          <a:bodyPr wrap="square" lIns="0" tIns="0" rIns="0" bIns="0" rtlCol="0" anchor="ctr"/>
          <a:lstStyle/>
          <a:p>
            <a:pPr indent="0" marL="0">
              <a:buNone/>
            </a:pPr>
            <a:r>
              <a:rPr lang="en-US" sz="1300" i="1" dirty="0">
                <a:solidFill>
                  <a:srgbClr val="7E9AAE"/>
                </a:solidFill>
                <a:latin typeface="Calibri" pitchFamily="34" charset="0"/>
                <a:ea typeface="Calibri" pitchFamily="34" charset="-122"/>
                <a:cs typeface="Calibri" pitchFamily="34" charset="-120"/>
              </a:rPr>
              <a:t>Evidence-verified grading with disagreement-gated referral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94360" y="146304"/>
            <a:ext cx="11002975" cy="274320"/>
          </a:xfrm>
          <a:prstGeom prst="rect">
            <a:avLst/>
          </a:prstGeom>
          <a:noFill/>
          <a:ln/>
        </p:spPr>
        <p:txBody>
          <a:bodyPr wrap="square" lIns="0" tIns="0" rIns="0" bIns="0" rtlCol="0" anchor="ctr"/>
          <a:lstStyle/>
          <a:p>
            <a:pPr indent="0" marL="0">
              <a:buNone/>
            </a:pPr>
            <a:r>
              <a:rPr lang="en-US" sz="1100" b="1" spc="200" kern="0" dirty="0">
                <a:solidFill>
                  <a:srgbClr val="E8833A"/>
                </a:solidFill>
                <a:latin typeface="Calibri" pitchFamily="34" charset="0"/>
                <a:ea typeface="Calibri" pitchFamily="34" charset="-122"/>
                <a:cs typeface="Calibri" pitchFamily="34" charset="-120"/>
              </a:rPr>
              <a:t>THE DISEASE</a:t>
            </a:r>
            <a:endParaRPr lang="en-US" sz="1100" dirty="0"/>
          </a:p>
        </p:txBody>
      </p:sp>
      <p:sp>
        <p:nvSpPr>
          <p:cNvPr id="3" name="Text 1"/>
          <p:cNvSpPr txBox="1"/>
          <p:nvPr/>
        </p:nvSpPr>
        <p:spPr>
          <a:xfrm>
            <a:off x="594360" y="384048"/>
            <a:ext cx="11002975" cy="685800"/>
          </a:xfrm>
          <a:prstGeom prst="rect">
            <a:avLst/>
          </a:prstGeom>
          <a:noFill/>
          <a:ln/>
        </p:spPr>
        <p:txBody>
          <a:bodyPr wrap="square" lIns="0" tIns="0" rIns="0" bIns="0" rtlCol="0" anchor="ctr"/>
          <a:lstStyle/>
          <a:p>
            <a:pPr indent="0" marL="0">
              <a:buNone/>
            </a:pPr>
            <a:r>
              <a:rPr lang="en-US" sz="3200" b="1" dirty="0">
                <a:solidFill>
                  <a:srgbClr val="0E5C7A"/>
                </a:solidFill>
                <a:latin typeface="Cambria" pitchFamily="34" charset="0"/>
                <a:ea typeface="Cambria" pitchFamily="34" charset="-122"/>
                <a:cs typeface="Cambria" pitchFamily="34" charset="-120"/>
              </a:rPr>
              <a:t>What is diabetic retinopathy?</a:t>
            </a:r>
            <a:endParaRPr lang="en-US" sz="3200" dirty="0"/>
          </a:p>
        </p:txBody>
      </p:sp>
      <p:sp>
        <p:nvSpPr>
          <p:cNvPr id="4" name="Text 2"/>
          <p:cNvSpPr txBox="1"/>
          <p:nvPr/>
        </p:nvSpPr>
        <p:spPr>
          <a:xfrm>
            <a:off x="594360" y="1298448"/>
            <a:ext cx="6492240" cy="1005840"/>
          </a:xfrm>
          <a:prstGeom prst="rect">
            <a:avLst/>
          </a:prstGeom>
          <a:noFill/>
          <a:ln/>
        </p:spPr>
        <p:txBody>
          <a:bodyPr wrap="square" lIns="0" tIns="0" rIns="0" bIns="0" rtlCol="0" anchor="t"/>
          <a:lstStyle/>
          <a:p>
            <a:pPr indent="0" marL="0">
              <a:lnSpc>
                <a:spcPts val="2300"/>
              </a:lnSpc>
              <a:buNone/>
            </a:pPr>
            <a:r>
              <a:rPr lang="en-US" sz="1500" dirty="0">
                <a:solidFill>
                  <a:srgbClr val="24313D"/>
                </a:solidFill>
                <a:latin typeface="Calibri" pitchFamily="34" charset="0"/>
                <a:ea typeface="Calibri" pitchFamily="34" charset="-122"/>
                <a:cs typeface="Calibri" pitchFamily="34" charset="-120"/>
              </a:rPr>
              <a:t>Diabetes damages the small blood vessels at the back of the eye. They leak, bleed, and eventually trigger fragile new vessel growth that can detach the retina.</a:t>
            </a:r>
            <a:endParaRPr lang="en-US" sz="1500" dirty="0"/>
          </a:p>
        </p:txBody>
      </p:sp>
      <p:sp>
        <p:nvSpPr>
          <p:cNvPr id="5" name="Text 3"/>
          <p:cNvSpPr txBox="1"/>
          <p:nvPr/>
        </p:nvSpPr>
        <p:spPr>
          <a:xfrm>
            <a:off x="594360" y="2331720"/>
            <a:ext cx="6492240" cy="685800"/>
          </a:xfrm>
          <a:prstGeom prst="rect">
            <a:avLst/>
          </a:prstGeom>
          <a:noFill/>
          <a:ln/>
        </p:spPr>
        <p:txBody>
          <a:bodyPr wrap="square" lIns="0" tIns="0" rIns="0" bIns="0" rtlCol="0" anchor="t"/>
          <a:lstStyle/>
          <a:p>
            <a:pPr indent="0" marL="0">
              <a:lnSpc>
                <a:spcPts val="2300"/>
              </a:lnSpc>
              <a:buNone/>
            </a:pPr>
            <a:r>
              <a:rPr lang="en-US" sz="1500" dirty="0">
                <a:solidFill>
                  <a:srgbClr val="5A6B78"/>
                </a:solidFill>
                <a:latin typeface="Calibri" pitchFamily="34" charset="0"/>
                <a:ea typeface="Calibri" pitchFamily="34" charset="-122"/>
                <a:cs typeface="Calibri" pitchFamily="34" charset="-120"/>
              </a:rPr>
              <a:t>It is painless and symptomless until it is advanced — which is exactly why population screening exists.</a:t>
            </a:r>
            <a:endParaRPr lang="en-US" sz="1500" dirty="0"/>
          </a:p>
        </p:txBody>
      </p:sp>
      <p:sp>
        <p:nvSpPr>
          <p:cNvPr id="6" name="Shape 4"/>
          <p:cNvSpPr/>
          <p:nvPr/>
        </p:nvSpPr>
        <p:spPr>
          <a:xfrm>
            <a:off x="7452360" y="1298448"/>
            <a:ext cx="4114800" cy="960120"/>
          </a:xfrm>
          <a:prstGeom prst="roundRect">
            <a:avLst>
              <a:gd name="adj" fmla="val 8571"/>
            </a:avLst>
          </a:prstGeom>
          <a:solidFill>
            <a:srgbClr val="EAF0F4"/>
          </a:solidFill>
          <a:ln w="12700">
            <a:solidFill>
              <a:srgbClr val="EAF0F4"/>
            </a:solidFill>
            <a:prstDash val="solid"/>
          </a:ln>
        </p:spPr>
      </p:sp>
      <p:sp>
        <p:nvSpPr>
          <p:cNvPr id="7" name="Text 5"/>
          <p:cNvSpPr txBox="1"/>
          <p:nvPr/>
        </p:nvSpPr>
        <p:spPr>
          <a:xfrm>
            <a:off x="7680960" y="1371600"/>
            <a:ext cx="1691640" cy="822960"/>
          </a:xfrm>
          <a:prstGeom prst="rect">
            <a:avLst/>
          </a:prstGeom>
          <a:noFill/>
          <a:ln/>
        </p:spPr>
        <p:txBody>
          <a:bodyPr wrap="square" lIns="0" tIns="0" rIns="0" bIns="0" rtlCol="0" anchor="ctr"/>
          <a:lstStyle/>
          <a:p>
            <a:pPr indent="0" marL="0">
              <a:buNone/>
            </a:pPr>
            <a:r>
              <a:rPr lang="en-US" sz="3000" b="1" dirty="0">
                <a:solidFill>
                  <a:srgbClr val="0E5C7A"/>
                </a:solidFill>
                <a:latin typeface="Cambria" pitchFamily="34" charset="0"/>
                <a:ea typeface="Cambria" pitchFamily="34" charset="-122"/>
                <a:cs typeface="Cambria" pitchFamily="34" charset="-120"/>
              </a:rPr>
              <a:t>~1 in 3</a:t>
            </a:r>
            <a:endParaRPr lang="en-US" sz="3000" dirty="0"/>
          </a:p>
        </p:txBody>
      </p:sp>
      <p:sp>
        <p:nvSpPr>
          <p:cNvPr id="8" name="Text 6"/>
          <p:cNvSpPr txBox="1"/>
          <p:nvPr/>
        </p:nvSpPr>
        <p:spPr>
          <a:xfrm>
            <a:off x="9326880" y="1371600"/>
            <a:ext cx="2057400" cy="822960"/>
          </a:xfrm>
          <a:prstGeom prst="rect">
            <a:avLst/>
          </a:prstGeom>
          <a:noFill/>
          <a:ln/>
        </p:spPr>
        <p:txBody>
          <a:bodyPr wrap="square" lIns="0" tIns="0" rIns="0" bIns="0" rtlCol="0" anchor="ctr"/>
          <a:lstStyle/>
          <a:p>
            <a:pPr indent="0" marL="0">
              <a:buNone/>
            </a:pPr>
            <a:r>
              <a:rPr lang="en-US" sz="1200" dirty="0">
                <a:solidFill>
                  <a:srgbClr val="5A6B78"/>
                </a:solidFill>
                <a:latin typeface="Calibri" pitchFamily="34" charset="0"/>
                <a:ea typeface="Calibri" pitchFamily="34" charset="-122"/>
                <a:cs typeface="Calibri" pitchFamily="34" charset="-120"/>
              </a:rPr>
              <a:t>people with diabetes show signs of DR</a:t>
            </a:r>
            <a:endParaRPr lang="en-US" sz="1200" dirty="0"/>
          </a:p>
        </p:txBody>
      </p:sp>
      <p:sp>
        <p:nvSpPr>
          <p:cNvPr id="9" name="Shape 7"/>
          <p:cNvSpPr/>
          <p:nvPr/>
        </p:nvSpPr>
        <p:spPr>
          <a:xfrm>
            <a:off x="7452360" y="2395728"/>
            <a:ext cx="4114800" cy="960120"/>
          </a:xfrm>
          <a:prstGeom prst="roundRect">
            <a:avLst>
              <a:gd name="adj" fmla="val 8571"/>
            </a:avLst>
          </a:prstGeom>
          <a:solidFill>
            <a:srgbClr val="EAF0F4"/>
          </a:solidFill>
          <a:ln w="12700">
            <a:solidFill>
              <a:srgbClr val="EAF0F4"/>
            </a:solidFill>
            <a:prstDash val="solid"/>
          </a:ln>
        </p:spPr>
      </p:sp>
      <p:sp>
        <p:nvSpPr>
          <p:cNvPr id="10" name="Text 8"/>
          <p:cNvSpPr txBox="1"/>
          <p:nvPr/>
        </p:nvSpPr>
        <p:spPr>
          <a:xfrm>
            <a:off x="7680960" y="2468880"/>
            <a:ext cx="1691640" cy="822960"/>
          </a:xfrm>
          <a:prstGeom prst="rect">
            <a:avLst/>
          </a:prstGeom>
          <a:noFill/>
          <a:ln/>
        </p:spPr>
        <p:txBody>
          <a:bodyPr wrap="square" lIns="0" tIns="0" rIns="0" bIns="0" rtlCol="0" anchor="ctr"/>
          <a:lstStyle/>
          <a:p>
            <a:pPr indent="0" marL="0">
              <a:buNone/>
            </a:pPr>
            <a:r>
              <a:rPr lang="en-US" sz="2500" b="1" dirty="0">
                <a:solidFill>
                  <a:srgbClr val="2E7D32"/>
                </a:solidFill>
                <a:latin typeface="Cambria" pitchFamily="34" charset="0"/>
                <a:ea typeface="Cambria" pitchFamily="34" charset="-122"/>
                <a:cs typeface="Cambria" pitchFamily="34" charset="-120"/>
              </a:rPr>
              <a:t>up to 95%</a:t>
            </a:r>
            <a:endParaRPr lang="en-US" sz="2500" dirty="0"/>
          </a:p>
        </p:txBody>
      </p:sp>
      <p:sp>
        <p:nvSpPr>
          <p:cNvPr id="11" name="Text 9"/>
          <p:cNvSpPr txBox="1"/>
          <p:nvPr/>
        </p:nvSpPr>
        <p:spPr>
          <a:xfrm>
            <a:off x="9326880" y="2468880"/>
            <a:ext cx="2057400" cy="822960"/>
          </a:xfrm>
          <a:prstGeom prst="rect">
            <a:avLst/>
          </a:prstGeom>
          <a:noFill/>
          <a:ln/>
        </p:spPr>
        <p:txBody>
          <a:bodyPr wrap="square" lIns="0" tIns="0" rIns="0" bIns="0" rtlCol="0" anchor="ctr"/>
          <a:lstStyle/>
          <a:p>
            <a:pPr indent="0" marL="0">
              <a:buNone/>
            </a:pPr>
            <a:r>
              <a:rPr lang="en-US" sz="1200" dirty="0">
                <a:solidFill>
                  <a:srgbClr val="5A6B78"/>
                </a:solidFill>
                <a:latin typeface="Calibri" pitchFamily="34" charset="0"/>
                <a:ea typeface="Calibri" pitchFamily="34" charset="-122"/>
                <a:cs typeface="Calibri" pitchFamily="34" charset="-120"/>
              </a:rPr>
              <a:t>of severe vision loss is preventable if caught early</a:t>
            </a:r>
            <a:endParaRPr lang="en-US" sz="1200" dirty="0"/>
          </a:p>
        </p:txBody>
      </p:sp>
      <p:sp>
        <p:nvSpPr>
          <p:cNvPr id="12" name="Text 10"/>
          <p:cNvSpPr txBox="1"/>
          <p:nvPr/>
        </p:nvSpPr>
        <p:spPr>
          <a:xfrm>
            <a:off x="594360" y="3703320"/>
            <a:ext cx="11002975" cy="274320"/>
          </a:xfrm>
          <a:prstGeom prst="rect">
            <a:avLst/>
          </a:prstGeom>
          <a:noFill/>
          <a:ln/>
        </p:spPr>
        <p:txBody>
          <a:bodyPr wrap="square" lIns="0" tIns="0" rIns="0" bIns="0" rtlCol="0" anchor="ctr"/>
          <a:lstStyle/>
          <a:p>
            <a:pPr indent="0" marL="0">
              <a:buNone/>
            </a:pPr>
            <a:r>
              <a:rPr lang="en-US" sz="1200" b="1" dirty="0">
                <a:solidFill>
                  <a:srgbClr val="5A6B78"/>
                </a:solidFill>
                <a:latin typeface="Calibri" pitchFamily="34" charset="0"/>
                <a:ea typeface="Calibri" pitchFamily="34" charset="-122"/>
                <a:cs typeface="Calibri" pitchFamily="34" charset="-120"/>
              </a:rPr>
              <a:t>Graded 0 to 4 on the International Clinical DR scale</a:t>
            </a:r>
            <a:endParaRPr lang="en-US" sz="1200" dirty="0"/>
          </a:p>
        </p:txBody>
      </p:sp>
      <p:sp>
        <p:nvSpPr>
          <p:cNvPr id="13" name="Shape 11"/>
          <p:cNvSpPr/>
          <p:nvPr/>
        </p:nvSpPr>
        <p:spPr>
          <a:xfrm>
            <a:off x="594360" y="4069080"/>
            <a:ext cx="2083552" cy="868680"/>
          </a:xfrm>
          <a:prstGeom prst="roundRect">
            <a:avLst>
              <a:gd name="adj" fmla="val 8421"/>
            </a:avLst>
          </a:prstGeom>
          <a:solidFill>
            <a:srgbClr val="2E7D32"/>
          </a:solidFill>
          <a:ln w="12700">
            <a:solidFill>
              <a:srgbClr val="2E7D32"/>
            </a:solidFill>
            <a:prstDash val="solid"/>
          </a:ln>
        </p:spPr>
      </p:sp>
      <p:sp>
        <p:nvSpPr>
          <p:cNvPr id="14" name="Text 12"/>
          <p:cNvSpPr txBox="1"/>
          <p:nvPr/>
        </p:nvSpPr>
        <p:spPr>
          <a:xfrm>
            <a:off x="594360" y="4133088"/>
            <a:ext cx="2083552"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0</a:t>
            </a:r>
            <a:endParaRPr lang="en-US" sz="2000" dirty="0"/>
          </a:p>
        </p:txBody>
      </p:sp>
      <p:sp>
        <p:nvSpPr>
          <p:cNvPr id="15" name="Text 13"/>
          <p:cNvSpPr txBox="1"/>
          <p:nvPr/>
        </p:nvSpPr>
        <p:spPr>
          <a:xfrm>
            <a:off x="594360" y="4517136"/>
            <a:ext cx="2083552"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No DR</a:t>
            </a:r>
            <a:endParaRPr lang="en-US" sz="1200" dirty="0"/>
          </a:p>
        </p:txBody>
      </p:sp>
      <p:sp>
        <p:nvSpPr>
          <p:cNvPr id="16" name="Shape 14"/>
          <p:cNvSpPr/>
          <p:nvPr/>
        </p:nvSpPr>
        <p:spPr>
          <a:xfrm>
            <a:off x="2824216" y="4069080"/>
            <a:ext cx="2083552" cy="868680"/>
          </a:xfrm>
          <a:prstGeom prst="roundRect">
            <a:avLst>
              <a:gd name="adj" fmla="val 8421"/>
            </a:avLst>
          </a:prstGeom>
          <a:solidFill>
            <a:srgbClr val="7CB342"/>
          </a:solidFill>
          <a:ln w="12700">
            <a:solidFill>
              <a:srgbClr val="7CB342"/>
            </a:solidFill>
            <a:prstDash val="solid"/>
          </a:ln>
        </p:spPr>
      </p:sp>
      <p:sp>
        <p:nvSpPr>
          <p:cNvPr id="17" name="Text 15"/>
          <p:cNvSpPr txBox="1"/>
          <p:nvPr/>
        </p:nvSpPr>
        <p:spPr>
          <a:xfrm>
            <a:off x="2824216" y="4133088"/>
            <a:ext cx="2083552"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8" name="Text 16"/>
          <p:cNvSpPr txBox="1"/>
          <p:nvPr/>
        </p:nvSpPr>
        <p:spPr>
          <a:xfrm>
            <a:off x="2824216" y="4517136"/>
            <a:ext cx="2083552"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Mild</a:t>
            </a:r>
            <a:endParaRPr lang="en-US" sz="1200" dirty="0"/>
          </a:p>
        </p:txBody>
      </p:sp>
      <p:sp>
        <p:nvSpPr>
          <p:cNvPr id="19" name="Shape 17"/>
          <p:cNvSpPr/>
          <p:nvPr/>
        </p:nvSpPr>
        <p:spPr>
          <a:xfrm>
            <a:off x="5054072" y="4069080"/>
            <a:ext cx="2083552" cy="868680"/>
          </a:xfrm>
          <a:prstGeom prst="roundRect">
            <a:avLst>
              <a:gd name="adj" fmla="val 8421"/>
            </a:avLst>
          </a:prstGeom>
          <a:solidFill>
            <a:srgbClr val="F9A825"/>
          </a:solidFill>
          <a:ln w="12700">
            <a:solidFill>
              <a:srgbClr val="F9A825"/>
            </a:solidFill>
            <a:prstDash val="solid"/>
          </a:ln>
        </p:spPr>
      </p:sp>
      <p:sp>
        <p:nvSpPr>
          <p:cNvPr id="20" name="Text 18"/>
          <p:cNvSpPr txBox="1"/>
          <p:nvPr/>
        </p:nvSpPr>
        <p:spPr>
          <a:xfrm>
            <a:off x="5054072" y="4133088"/>
            <a:ext cx="2083552"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21" name="Text 19"/>
          <p:cNvSpPr txBox="1"/>
          <p:nvPr/>
        </p:nvSpPr>
        <p:spPr>
          <a:xfrm>
            <a:off x="5054072" y="4517136"/>
            <a:ext cx="2083552"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Moderate</a:t>
            </a:r>
            <a:endParaRPr lang="en-US" sz="1200" dirty="0"/>
          </a:p>
        </p:txBody>
      </p:sp>
      <p:sp>
        <p:nvSpPr>
          <p:cNvPr id="22" name="Shape 20"/>
          <p:cNvSpPr/>
          <p:nvPr/>
        </p:nvSpPr>
        <p:spPr>
          <a:xfrm>
            <a:off x="7283928" y="4069080"/>
            <a:ext cx="2083552" cy="868680"/>
          </a:xfrm>
          <a:prstGeom prst="roundRect">
            <a:avLst>
              <a:gd name="adj" fmla="val 8421"/>
            </a:avLst>
          </a:prstGeom>
          <a:solidFill>
            <a:srgbClr val="EF6C00"/>
          </a:solidFill>
          <a:ln w="12700">
            <a:solidFill>
              <a:srgbClr val="EF6C00"/>
            </a:solidFill>
            <a:prstDash val="solid"/>
          </a:ln>
        </p:spPr>
      </p:sp>
      <p:sp>
        <p:nvSpPr>
          <p:cNvPr id="23" name="Text 21"/>
          <p:cNvSpPr txBox="1"/>
          <p:nvPr/>
        </p:nvSpPr>
        <p:spPr>
          <a:xfrm>
            <a:off x="7283928" y="4133088"/>
            <a:ext cx="2083552"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4" name="Text 22"/>
          <p:cNvSpPr txBox="1"/>
          <p:nvPr/>
        </p:nvSpPr>
        <p:spPr>
          <a:xfrm>
            <a:off x="7283928" y="4517136"/>
            <a:ext cx="2083552"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Severe</a:t>
            </a:r>
            <a:endParaRPr lang="en-US" sz="1200" dirty="0"/>
          </a:p>
        </p:txBody>
      </p:sp>
      <p:sp>
        <p:nvSpPr>
          <p:cNvPr id="25" name="Shape 23"/>
          <p:cNvSpPr/>
          <p:nvPr/>
        </p:nvSpPr>
        <p:spPr>
          <a:xfrm>
            <a:off x="9513783" y="4069080"/>
            <a:ext cx="2083552" cy="868680"/>
          </a:xfrm>
          <a:prstGeom prst="roundRect">
            <a:avLst>
              <a:gd name="adj" fmla="val 8421"/>
            </a:avLst>
          </a:prstGeom>
          <a:solidFill>
            <a:srgbClr val="C62828"/>
          </a:solidFill>
          <a:ln w="12700">
            <a:solidFill>
              <a:srgbClr val="C62828"/>
            </a:solidFill>
            <a:prstDash val="solid"/>
          </a:ln>
        </p:spPr>
      </p:sp>
      <p:sp>
        <p:nvSpPr>
          <p:cNvPr id="26" name="Text 24"/>
          <p:cNvSpPr txBox="1"/>
          <p:nvPr/>
        </p:nvSpPr>
        <p:spPr>
          <a:xfrm>
            <a:off x="9513783" y="4133088"/>
            <a:ext cx="2083552"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7" name="Text 25"/>
          <p:cNvSpPr txBox="1"/>
          <p:nvPr/>
        </p:nvSpPr>
        <p:spPr>
          <a:xfrm>
            <a:off x="9513783" y="4517136"/>
            <a:ext cx="2083552" cy="329184"/>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Proliferative</a:t>
            </a:r>
            <a:endParaRPr lang="en-US" sz="1200" dirty="0"/>
          </a:p>
        </p:txBody>
      </p:sp>
      <p:sp>
        <p:nvSpPr>
          <p:cNvPr id="28" name="Text 26"/>
          <p:cNvSpPr txBox="1"/>
          <p:nvPr/>
        </p:nvSpPr>
        <p:spPr>
          <a:xfrm>
            <a:off x="594360" y="5138928"/>
            <a:ext cx="11002975" cy="320040"/>
          </a:xfrm>
          <a:prstGeom prst="rect">
            <a:avLst/>
          </a:prstGeom>
          <a:noFill/>
          <a:ln/>
        </p:spPr>
        <p:txBody>
          <a:bodyPr wrap="square" lIns="0" tIns="0" rIns="0" bIns="0" rtlCol="0" anchor="ctr"/>
          <a:lstStyle/>
          <a:p>
            <a:pPr indent="0" marL="0">
              <a:buNone/>
            </a:pPr>
            <a:r>
              <a:rPr lang="en-US" sz="1300" i="1" dirty="0">
                <a:solidFill>
                  <a:srgbClr val="0E5C7A"/>
                </a:solidFill>
                <a:latin typeface="Calibri" pitchFamily="34" charset="0"/>
                <a:ea typeface="Calibri" pitchFamily="34" charset="-122"/>
                <a:cs typeface="Calibri" pitchFamily="34" charset="-120"/>
              </a:rPr>
              <a:t>Referable DR starts at grade 2 — the point a patient needs an ophthalmologist.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94360" y="146304"/>
            <a:ext cx="11002975" cy="274320"/>
          </a:xfrm>
          <a:prstGeom prst="rect">
            <a:avLst/>
          </a:prstGeom>
          <a:noFill/>
          <a:ln/>
        </p:spPr>
        <p:txBody>
          <a:bodyPr wrap="square" lIns="0" tIns="0" rIns="0" bIns="0" rtlCol="0" anchor="ctr"/>
          <a:lstStyle/>
          <a:p>
            <a:pPr indent="0" marL="0">
              <a:buNone/>
            </a:pPr>
            <a:r>
              <a:rPr lang="en-US" sz="1100" b="1" spc="200" kern="0" dirty="0">
                <a:solidFill>
                  <a:srgbClr val="E8833A"/>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94360" y="384048"/>
            <a:ext cx="11002975" cy="685800"/>
          </a:xfrm>
          <a:prstGeom prst="rect">
            <a:avLst/>
          </a:prstGeom>
          <a:noFill/>
          <a:ln/>
        </p:spPr>
        <p:txBody>
          <a:bodyPr wrap="square" lIns="0" tIns="0" rIns="0" bIns="0" rtlCol="0" anchor="ctr"/>
          <a:lstStyle/>
          <a:p>
            <a:pPr indent="0" marL="0">
              <a:buNone/>
            </a:pPr>
            <a:r>
              <a:rPr lang="en-US" sz="3200" b="1" dirty="0">
                <a:solidFill>
                  <a:srgbClr val="0E5C7A"/>
                </a:solidFill>
                <a:latin typeface="Cambria" pitchFamily="34" charset="0"/>
                <a:ea typeface="Cambria" pitchFamily="34" charset="-122"/>
                <a:cs typeface="Cambria" pitchFamily="34" charset="-120"/>
              </a:rPr>
              <a:t>Screening works. It just does not scale.</a:t>
            </a:r>
            <a:endParaRPr lang="en-US" sz="3200" dirty="0"/>
          </a:p>
        </p:txBody>
      </p:sp>
      <p:sp>
        <p:nvSpPr>
          <p:cNvPr id="4" name="Shape 2"/>
          <p:cNvSpPr/>
          <p:nvPr/>
        </p:nvSpPr>
        <p:spPr>
          <a:xfrm>
            <a:off x="594360" y="1371600"/>
            <a:ext cx="5272888" cy="2651760"/>
          </a:xfrm>
          <a:prstGeom prst="roundRect">
            <a:avLst>
              <a:gd name="adj" fmla="val 3103"/>
            </a:avLst>
          </a:prstGeom>
          <a:solidFill>
            <a:srgbClr val="EAF0F4"/>
          </a:solidFill>
          <a:ln w="12700">
            <a:solidFill>
              <a:srgbClr val="EAF0F4"/>
            </a:solidFill>
            <a:prstDash val="solid"/>
          </a:ln>
        </p:spPr>
      </p:sp>
      <p:sp>
        <p:nvSpPr>
          <p:cNvPr id="5" name="Shape 3"/>
          <p:cNvSpPr/>
          <p:nvPr/>
        </p:nvSpPr>
        <p:spPr>
          <a:xfrm>
            <a:off x="914400" y="1664208"/>
            <a:ext cx="548640" cy="548640"/>
          </a:xfrm>
          <a:prstGeom prst="ellipse">
            <a:avLst/>
          </a:prstGeom>
          <a:solidFill>
            <a:srgbClr val="0E5C7A"/>
          </a:solidFill>
          <a:ln w="12700">
            <a:solidFill>
              <a:srgbClr val="0E5C7A"/>
            </a:solidFill>
            <a:prstDash val="solid"/>
          </a:ln>
        </p:spPr>
      </p:sp>
      <p:sp>
        <p:nvSpPr>
          <p:cNvPr id="6" name="Text 4"/>
          <p:cNvSpPr txBox="1"/>
          <p:nvPr/>
        </p:nvSpPr>
        <p:spPr>
          <a:xfrm>
            <a:off x="914400" y="166420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7" name="Text 5"/>
          <p:cNvSpPr txBox="1"/>
          <p:nvPr/>
        </p:nvSpPr>
        <p:spPr>
          <a:xfrm>
            <a:off x="1600200" y="1691640"/>
            <a:ext cx="3947008" cy="411480"/>
          </a:xfrm>
          <a:prstGeom prst="rect">
            <a:avLst/>
          </a:prstGeom>
          <a:noFill/>
          <a:ln/>
        </p:spPr>
        <p:txBody>
          <a:bodyPr wrap="square" lIns="0" tIns="0" rIns="0" bIns="0" rtlCol="0" anchor="ctr"/>
          <a:lstStyle/>
          <a:p>
            <a:pPr indent="0" marL="0">
              <a:buNone/>
            </a:pPr>
            <a:r>
              <a:rPr lang="en-US" sz="1900" b="1" dirty="0">
                <a:solidFill>
                  <a:srgbClr val="0E5C7A"/>
                </a:solidFill>
                <a:latin typeface="Cambria" pitchFamily="34" charset="0"/>
                <a:ea typeface="Cambria" pitchFamily="34" charset="-122"/>
                <a:cs typeface="Cambria" pitchFamily="34" charset="-120"/>
              </a:rPr>
              <a:t>The demand</a:t>
            </a:r>
            <a:endParaRPr lang="en-US" sz="1900" dirty="0"/>
          </a:p>
        </p:txBody>
      </p:sp>
      <p:sp>
        <p:nvSpPr>
          <p:cNvPr id="8" name="Text 6"/>
          <p:cNvSpPr txBox="1"/>
          <p:nvPr/>
        </p:nvSpPr>
        <p:spPr>
          <a:xfrm>
            <a:off x="960120" y="2377440"/>
            <a:ext cx="4541368" cy="14630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4313D"/>
                </a:solidFill>
                <a:latin typeface="Calibri" pitchFamily="34" charset="0"/>
                <a:ea typeface="Calibri" pitchFamily="34" charset="-122"/>
                <a:cs typeface="Calibri" pitchFamily="34" charset="-120"/>
              </a:rPr>
              <a:t>Every person with diabetes needs a retinal screen every year</a:t>
            </a:r>
            <a:endParaRPr lang="en-US" sz="1400" dirty="0"/>
          </a:p>
          <a:p>
            <a:pPr marL="342900" indent="-342900">
              <a:spcAft>
                <a:spcPts val="900"/>
              </a:spcAft>
              <a:buSzPct val="100000"/>
              <a:buChar char="•"/>
            </a:pPr>
            <a:r>
              <a:rPr lang="en-US" sz="1400" dirty="0">
                <a:solidFill>
                  <a:srgbClr val="24313D"/>
                </a:solidFill>
                <a:latin typeface="Calibri" pitchFamily="34" charset="0"/>
                <a:ea typeface="Calibri" pitchFamily="34" charset="-122"/>
                <a:cs typeface="Calibri" pitchFamily="34" charset="-120"/>
              </a:rPr>
              <a:t>Hundreds of millions of people worldwide</a:t>
            </a:r>
            <a:endParaRPr lang="en-US" sz="1400" dirty="0"/>
          </a:p>
          <a:p>
            <a:pPr marL="342900" indent="-342900">
              <a:spcAft>
                <a:spcPts val="900"/>
              </a:spcAft>
              <a:buSzPct val="100000"/>
              <a:buChar char="•"/>
            </a:pPr>
            <a:r>
              <a:rPr lang="en-US" sz="1400" dirty="0">
                <a:solidFill>
                  <a:srgbClr val="24313D"/>
                </a:solidFill>
                <a:latin typeface="Calibri" pitchFamily="34" charset="0"/>
                <a:ea typeface="Calibri" pitchFamily="34" charset="-122"/>
                <a:cs typeface="Calibri" pitchFamily="34" charset="-120"/>
              </a:rPr>
              <a:t>Most images turn out to be normal</a:t>
            </a:r>
            <a:endParaRPr lang="en-US" sz="1400" dirty="0"/>
          </a:p>
        </p:txBody>
      </p:sp>
      <p:sp>
        <p:nvSpPr>
          <p:cNvPr id="9" name="Shape 7"/>
          <p:cNvSpPr/>
          <p:nvPr/>
        </p:nvSpPr>
        <p:spPr>
          <a:xfrm>
            <a:off x="6324448" y="1371600"/>
            <a:ext cx="5272888" cy="2651760"/>
          </a:xfrm>
          <a:prstGeom prst="roundRect">
            <a:avLst>
              <a:gd name="adj" fmla="val 3103"/>
            </a:avLst>
          </a:prstGeom>
          <a:solidFill>
            <a:srgbClr val="EAF0F4"/>
          </a:solidFill>
          <a:ln w="12700">
            <a:solidFill>
              <a:srgbClr val="EAF0F4"/>
            </a:solidFill>
            <a:prstDash val="solid"/>
          </a:ln>
        </p:spPr>
      </p:sp>
      <p:sp>
        <p:nvSpPr>
          <p:cNvPr id="10" name="Shape 8"/>
          <p:cNvSpPr/>
          <p:nvPr/>
        </p:nvSpPr>
        <p:spPr>
          <a:xfrm>
            <a:off x="6644488" y="1664208"/>
            <a:ext cx="548640" cy="548640"/>
          </a:xfrm>
          <a:prstGeom prst="ellipse">
            <a:avLst/>
          </a:prstGeom>
          <a:solidFill>
            <a:srgbClr val="E8833A"/>
          </a:solidFill>
          <a:ln w="12700">
            <a:solidFill>
              <a:srgbClr val="E8833A"/>
            </a:solidFill>
            <a:prstDash val="solid"/>
          </a:ln>
        </p:spPr>
      </p:sp>
      <p:sp>
        <p:nvSpPr>
          <p:cNvPr id="11" name="Text 9"/>
          <p:cNvSpPr txBox="1"/>
          <p:nvPr/>
        </p:nvSpPr>
        <p:spPr>
          <a:xfrm>
            <a:off x="6644488" y="1664208"/>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t>
            </a:r>
            <a:endParaRPr lang="en-US" sz="1700" dirty="0"/>
          </a:p>
        </p:txBody>
      </p:sp>
      <p:sp>
        <p:nvSpPr>
          <p:cNvPr id="12" name="Text 10"/>
          <p:cNvSpPr txBox="1"/>
          <p:nvPr/>
        </p:nvSpPr>
        <p:spPr>
          <a:xfrm>
            <a:off x="7330288" y="1691640"/>
            <a:ext cx="3947008" cy="411480"/>
          </a:xfrm>
          <a:prstGeom prst="rect">
            <a:avLst/>
          </a:prstGeom>
          <a:noFill/>
          <a:ln/>
        </p:spPr>
        <p:txBody>
          <a:bodyPr wrap="square" lIns="0" tIns="0" rIns="0" bIns="0" rtlCol="0" anchor="ctr"/>
          <a:lstStyle/>
          <a:p>
            <a:pPr indent="0" marL="0">
              <a:buNone/>
            </a:pPr>
            <a:r>
              <a:rPr lang="en-US" sz="1900" b="1" dirty="0">
                <a:solidFill>
                  <a:srgbClr val="E8833A"/>
                </a:solidFill>
                <a:latin typeface="Cambria" pitchFamily="34" charset="0"/>
                <a:ea typeface="Cambria" pitchFamily="34" charset="-122"/>
                <a:cs typeface="Cambria" pitchFamily="34" charset="-120"/>
              </a:rPr>
              <a:t>The supply</a:t>
            </a:r>
            <a:endParaRPr lang="en-US" sz="1900" dirty="0"/>
          </a:p>
        </p:txBody>
      </p:sp>
      <p:sp>
        <p:nvSpPr>
          <p:cNvPr id="13" name="Text 11"/>
          <p:cNvSpPr txBox="1"/>
          <p:nvPr/>
        </p:nvSpPr>
        <p:spPr>
          <a:xfrm>
            <a:off x="6690208" y="2377440"/>
            <a:ext cx="4541368" cy="14630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24313D"/>
                </a:solidFill>
                <a:latin typeface="Calibri" pitchFamily="34" charset="0"/>
                <a:ea typeface="Calibri" pitchFamily="34" charset="-122"/>
                <a:cs typeface="Calibri" pitchFamily="34" charset="-120"/>
              </a:rPr>
              <a:t>Every image is read by a trained human grader</a:t>
            </a:r>
            <a:endParaRPr lang="en-US" sz="1400" dirty="0"/>
          </a:p>
          <a:p>
            <a:pPr marL="342900" indent="-342900">
              <a:spcAft>
                <a:spcPts val="900"/>
              </a:spcAft>
              <a:buSzPct val="100000"/>
              <a:buChar char="•"/>
            </a:pPr>
            <a:r>
              <a:rPr lang="en-US" sz="1400" dirty="0">
                <a:solidFill>
                  <a:srgbClr val="24313D"/>
                </a:solidFill>
                <a:latin typeface="Calibri" pitchFamily="34" charset="0"/>
                <a:ea typeface="Calibri" pitchFamily="34" charset="-122"/>
                <a:cs typeface="Calibri" pitchFamily="34" charset="-120"/>
              </a:rPr>
              <a:t>Trained graders are the scarce resource</a:t>
            </a:r>
            <a:endParaRPr lang="en-US" sz="1400" dirty="0"/>
          </a:p>
          <a:p>
            <a:pPr marL="342900" indent="-342900">
              <a:spcAft>
                <a:spcPts val="900"/>
              </a:spcAft>
              <a:buSzPct val="100000"/>
              <a:buChar char="•"/>
            </a:pPr>
            <a:r>
              <a:rPr lang="en-US" sz="1400" dirty="0">
                <a:solidFill>
                  <a:srgbClr val="24313D"/>
                </a:solidFill>
                <a:latin typeface="Calibri" pitchFamily="34" charset="0"/>
                <a:ea typeface="Calibri" pitchFamily="34" charset="-122"/>
                <a:cs typeface="Calibri" pitchFamily="34" charset="-120"/>
              </a:rPr>
              <a:t>Reading normal images consumes most of that time</a:t>
            </a:r>
            <a:endParaRPr lang="en-US" sz="1400" dirty="0"/>
          </a:p>
        </p:txBody>
      </p:sp>
      <p:sp>
        <p:nvSpPr>
          <p:cNvPr id="14" name="Shape 12"/>
          <p:cNvSpPr/>
          <p:nvPr/>
        </p:nvSpPr>
        <p:spPr>
          <a:xfrm>
            <a:off x="594360" y="4315968"/>
            <a:ext cx="11002975" cy="1143000"/>
          </a:xfrm>
          <a:prstGeom prst="roundRect">
            <a:avLst>
              <a:gd name="adj" fmla="val 7200"/>
            </a:avLst>
          </a:prstGeom>
          <a:solidFill>
            <a:srgbClr val="10243B"/>
          </a:solidFill>
          <a:ln w="12700">
            <a:solidFill>
              <a:srgbClr val="10243B"/>
            </a:solidFill>
            <a:prstDash val="solid"/>
          </a:ln>
        </p:spPr>
      </p:sp>
      <p:sp>
        <p:nvSpPr>
          <p:cNvPr id="15" name="Text 13"/>
          <p:cNvSpPr txBox="1"/>
          <p:nvPr/>
        </p:nvSpPr>
        <p:spPr>
          <a:xfrm>
            <a:off x="1051560" y="4462272"/>
            <a:ext cx="10088575" cy="384048"/>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Automation is the obvious answer.</a:t>
            </a:r>
            <a:endParaRPr lang="en-US" sz="2000" dirty="0"/>
          </a:p>
        </p:txBody>
      </p:sp>
      <p:sp>
        <p:nvSpPr>
          <p:cNvPr id="16" name="Text 14"/>
          <p:cNvSpPr txBox="1"/>
          <p:nvPr/>
        </p:nvSpPr>
        <p:spPr>
          <a:xfrm>
            <a:off x="1051560" y="4846320"/>
            <a:ext cx="10088575" cy="457200"/>
          </a:xfrm>
          <a:prstGeom prst="rect">
            <a:avLst/>
          </a:prstGeom>
          <a:noFill/>
          <a:ln/>
        </p:spPr>
        <p:txBody>
          <a:bodyPr wrap="square" lIns="0" tIns="0" rIns="0" bIns="0" rtlCol="0" anchor="ctr"/>
          <a:lstStyle/>
          <a:p>
            <a:pPr indent="0" marL="0">
              <a:buNone/>
            </a:pPr>
            <a:r>
              <a:rPr lang="en-US" sz="1500" dirty="0">
                <a:solidFill>
                  <a:srgbClr val="A8C5D6"/>
                </a:solidFill>
                <a:latin typeface="Calibri" pitchFamily="34" charset="0"/>
                <a:ea typeface="Calibri" pitchFamily="34" charset="-122"/>
                <a:cs typeface="Calibri" pitchFamily="34" charset="-120"/>
              </a:rPr>
              <a:t>The hard part is not reading the image — it is knowing which automated reads a human still needs to check.</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 y="146304"/>
            <a:ext cx="11002975" cy="274320"/>
          </a:xfrm>
          <a:prstGeom prst="rect">
            <a:avLst/>
          </a:prstGeom>
          <a:noFill/>
          <a:ln/>
        </p:spPr>
        <p:txBody>
          <a:bodyPr wrap="square" lIns="0" tIns="0" rIns="0" bIns="0" rtlCol="0" anchor="ctr"/>
          <a:lstStyle/>
          <a:p>
            <a:pPr indent="0" marL="0">
              <a:buNone/>
            </a:pPr>
            <a:r>
              <a:rPr lang="en-US" sz="1100" b="1" spc="200" kern="0" dirty="0">
                <a:solidFill>
                  <a:srgbClr val="C0392B"/>
                </a:solidFill>
                <a:latin typeface="Calibri" pitchFamily="34" charset="0"/>
                <a:ea typeface="Calibri" pitchFamily="34" charset="-122"/>
                <a:cs typeface="Calibri" pitchFamily="34" charset="-120"/>
              </a:rPr>
              <a:t>THE GAP</a:t>
            </a:r>
            <a:endParaRPr lang="en-US" sz="1100" dirty="0"/>
          </a:p>
        </p:txBody>
      </p:sp>
      <p:sp>
        <p:nvSpPr>
          <p:cNvPr id="3" name="Text 1"/>
          <p:cNvSpPr txBox="1"/>
          <p:nvPr/>
        </p:nvSpPr>
        <p:spPr>
          <a:xfrm>
            <a:off x="594360" y="384048"/>
            <a:ext cx="11002975" cy="685800"/>
          </a:xfrm>
          <a:prstGeom prst="rect">
            <a:avLst/>
          </a:prstGeom>
          <a:noFill/>
          <a:ln/>
        </p:spPr>
        <p:txBody>
          <a:bodyPr wrap="square" lIns="0" tIns="0" rIns="0" bIns="0" rtlCol="0" anchor="ctr"/>
          <a:lstStyle/>
          <a:p>
            <a:pPr indent="0" marL="0">
              <a:buNone/>
            </a:pPr>
            <a:r>
              <a:rPr lang="en-US" sz="3200" b="1" dirty="0">
                <a:solidFill>
                  <a:srgbClr val="0E5C7A"/>
                </a:solidFill>
                <a:latin typeface="Cambria" pitchFamily="34" charset="0"/>
                <a:ea typeface="Cambria" pitchFamily="34" charset="-122"/>
                <a:cs typeface="Cambria" pitchFamily="34" charset="-120"/>
              </a:rPr>
              <a:t>Where current AI screening falls short</a:t>
            </a:r>
            <a:endParaRPr lang="en-US" sz="3200" dirty="0"/>
          </a:p>
        </p:txBody>
      </p:sp>
      <p:sp>
        <p:nvSpPr>
          <p:cNvPr id="4" name="Shape 2"/>
          <p:cNvSpPr/>
          <p:nvPr/>
        </p:nvSpPr>
        <p:spPr>
          <a:xfrm>
            <a:off x="594360" y="1353312"/>
            <a:ext cx="11002975" cy="1188720"/>
          </a:xfrm>
          <a:prstGeom prst="roundRect">
            <a:avLst>
              <a:gd name="adj" fmla="val 6923"/>
            </a:avLst>
          </a:prstGeom>
          <a:solidFill>
            <a:srgbClr val="FBEAE6"/>
          </a:solidFill>
          <a:ln w="12700">
            <a:solidFill>
              <a:srgbClr val="FBEAE6"/>
            </a:solidFill>
            <a:prstDash val="solid"/>
          </a:ln>
        </p:spPr>
      </p:sp>
      <p:sp>
        <p:nvSpPr>
          <p:cNvPr id="5" name="Shape 3"/>
          <p:cNvSpPr/>
          <p:nvPr/>
        </p:nvSpPr>
        <p:spPr>
          <a:xfrm>
            <a:off x="914400" y="1655064"/>
            <a:ext cx="585216" cy="585216"/>
          </a:xfrm>
          <a:prstGeom prst="ellipse">
            <a:avLst/>
          </a:prstGeom>
          <a:solidFill>
            <a:srgbClr val="C0392B"/>
          </a:solidFill>
          <a:ln w="12700">
            <a:solidFill>
              <a:srgbClr val="C0392B"/>
            </a:solidFill>
            <a:prstDash val="solid"/>
          </a:ln>
        </p:spPr>
      </p:sp>
      <p:sp>
        <p:nvSpPr>
          <p:cNvPr id="6" name="Text 4"/>
          <p:cNvSpPr txBox="1"/>
          <p:nvPr/>
        </p:nvSpPr>
        <p:spPr>
          <a:xfrm>
            <a:off x="914400" y="1655064"/>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1691640" y="1517904"/>
            <a:ext cx="9539935" cy="347472"/>
          </a:xfrm>
          <a:prstGeom prst="rect">
            <a:avLst/>
          </a:prstGeom>
          <a:noFill/>
          <a:ln/>
        </p:spPr>
        <p:txBody>
          <a:bodyPr wrap="square" lIns="0" tIns="0" rIns="0" bIns="0" rtlCol="0" anchor="ctr"/>
          <a:lstStyle/>
          <a:p>
            <a:pPr indent="0" marL="0">
              <a:buNone/>
            </a:pPr>
            <a:r>
              <a:rPr lang="en-US" sz="1700" b="1" dirty="0">
                <a:solidFill>
                  <a:srgbClr val="C0392B"/>
                </a:solidFill>
                <a:latin typeface="Cambria" pitchFamily="34" charset="0"/>
                <a:ea typeface="Cambria" pitchFamily="34" charset="-122"/>
                <a:cs typeface="Cambria" pitchFamily="34" charset="-120"/>
              </a:rPr>
              <a:t>Confidently wrong</a:t>
            </a:r>
            <a:endParaRPr lang="en-US" sz="1700" dirty="0"/>
          </a:p>
        </p:txBody>
      </p:sp>
      <p:sp>
        <p:nvSpPr>
          <p:cNvPr id="8" name="Text 6"/>
          <p:cNvSpPr txBox="1"/>
          <p:nvPr/>
        </p:nvSpPr>
        <p:spPr>
          <a:xfrm>
            <a:off x="1691640" y="1883664"/>
            <a:ext cx="9448495" cy="566928"/>
          </a:xfrm>
          <a:prstGeom prst="rect">
            <a:avLst/>
          </a:prstGeom>
          <a:noFill/>
          <a:ln/>
        </p:spPr>
        <p:txBody>
          <a:bodyPr wrap="square" lIns="0" tIns="0" rIns="0" bIns="0" rtlCol="0" anchor="t"/>
          <a:lstStyle/>
          <a:p>
            <a:pPr indent="0" marL="0">
              <a:lnSpc>
                <a:spcPts val="1800"/>
              </a:lnSpc>
              <a:buNone/>
            </a:pPr>
            <a:r>
              <a:rPr lang="en-US" sz="1300" dirty="0">
                <a:solidFill>
                  <a:srgbClr val="37474F"/>
                </a:solidFill>
                <a:latin typeface="Calibri" pitchFamily="34" charset="0"/>
                <a:ea typeface="Calibri" pitchFamily="34" charset="-122"/>
                <a:cs typeface="Calibri" pitchFamily="34" charset="-120"/>
              </a:rPr>
              <a:t>Systems defer when the model is unsure. But a miscalibrated network is confidently wrong — and its own confidence score cannot detect that, because the error and the confidence come from the same computation.</a:t>
            </a:r>
            <a:endParaRPr lang="en-US" sz="1300" dirty="0"/>
          </a:p>
        </p:txBody>
      </p:sp>
      <p:sp>
        <p:nvSpPr>
          <p:cNvPr id="9" name="Shape 7"/>
          <p:cNvSpPr/>
          <p:nvPr/>
        </p:nvSpPr>
        <p:spPr>
          <a:xfrm>
            <a:off x="594360" y="2724912"/>
            <a:ext cx="11002975" cy="1188720"/>
          </a:xfrm>
          <a:prstGeom prst="roundRect">
            <a:avLst>
              <a:gd name="adj" fmla="val 6923"/>
            </a:avLst>
          </a:prstGeom>
          <a:solidFill>
            <a:srgbClr val="F4F7F9"/>
          </a:solidFill>
          <a:ln w="12700">
            <a:solidFill>
              <a:srgbClr val="F4F7F9"/>
            </a:solidFill>
            <a:prstDash val="solid"/>
          </a:ln>
        </p:spPr>
      </p:sp>
      <p:sp>
        <p:nvSpPr>
          <p:cNvPr id="10" name="Shape 8"/>
          <p:cNvSpPr/>
          <p:nvPr/>
        </p:nvSpPr>
        <p:spPr>
          <a:xfrm>
            <a:off x="914400" y="3026664"/>
            <a:ext cx="585216" cy="585216"/>
          </a:xfrm>
          <a:prstGeom prst="ellipse">
            <a:avLst/>
          </a:prstGeom>
          <a:solidFill>
            <a:srgbClr val="0E5C7A"/>
          </a:solidFill>
          <a:ln w="12700">
            <a:solidFill>
              <a:srgbClr val="0E5C7A"/>
            </a:solidFill>
            <a:prstDash val="solid"/>
          </a:ln>
        </p:spPr>
      </p:sp>
      <p:sp>
        <p:nvSpPr>
          <p:cNvPr id="11" name="Text 9"/>
          <p:cNvSpPr txBox="1"/>
          <p:nvPr/>
        </p:nvSpPr>
        <p:spPr>
          <a:xfrm>
            <a:off x="914400" y="3026664"/>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2" name="Text 10"/>
          <p:cNvSpPr txBox="1"/>
          <p:nvPr/>
        </p:nvSpPr>
        <p:spPr>
          <a:xfrm>
            <a:off x="1691640" y="2889504"/>
            <a:ext cx="9539935" cy="347472"/>
          </a:xfrm>
          <a:prstGeom prst="rect">
            <a:avLst/>
          </a:prstGeom>
          <a:noFill/>
          <a:ln/>
        </p:spPr>
        <p:txBody>
          <a:bodyPr wrap="square" lIns="0" tIns="0" rIns="0" bIns="0" rtlCol="0" anchor="ctr"/>
          <a:lstStyle/>
          <a:p>
            <a:pPr indent="0" marL="0">
              <a:buNone/>
            </a:pPr>
            <a:r>
              <a:rPr lang="en-US" sz="1700" b="1" dirty="0">
                <a:solidFill>
                  <a:srgbClr val="0E5C7A"/>
                </a:solidFill>
                <a:latin typeface="Cambria" pitchFamily="34" charset="0"/>
                <a:ea typeface="Cambria" pitchFamily="34" charset="-122"/>
                <a:cs typeface="Cambria" pitchFamily="34" charset="-120"/>
              </a:rPr>
              <a:t>Unfalsifiable explanations</a:t>
            </a:r>
            <a:endParaRPr lang="en-US" sz="1700" dirty="0"/>
          </a:p>
        </p:txBody>
      </p:sp>
      <p:sp>
        <p:nvSpPr>
          <p:cNvPr id="13" name="Text 11"/>
          <p:cNvSpPr txBox="1"/>
          <p:nvPr/>
        </p:nvSpPr>
        <p:spPr>
          <a:xfrm>
            <a:off x="1691640" y="3255264"/>
            <a:ext cx="9448495" cy="566928"/>
          </a:xfrm>
          <a:prstGeom prst="rect">
            <a:avLst/>
          </a:prstGeom>
          <a:noFill/>
          <a:ln/>
        </p:spPr>
        <p:txBody>
          <a:bodyPr wrap="square" lIns="0" tIns="0" rIns="0" bIns="0" rtlCol="0" anchor="t"/>
          <a:lstStyle/>
          <a:p>
            <a:pPr indent="0" marL="0">
              <a:lnSpc>
                <a:spcPts val="1800"/>
              </a:lnSpc>
              <a:buNone/>
            </a:pPr>
            <a:r>
              <a:rPr lang="en-US" sz="1300" dirty="0">
                <a:solidFill>
                  <a:srgbClr val="37474F"/>
                </a:solidFill>
                <a:latin typeface="Calibri" pitchFamily="34" charset="0"/>
                <a:ea typeface="Calibri" pitchFamily="34" charset="-122"/>
                <a:cs typeface="Calibri" pitchFamily="34" charset="-120"/>
              </a:rPr>
              <a:t>Most DR interpretability is a heatmap. A clinician cannot say a heatmap is wrong. Nearly no published system tests whether its explanation is causally connected to its prediction.</a:t>
            </a:r>
            <a:endParaRPr lang="en-US" sz="1300" dirty="0"/>
          </a:p>
        </p:txBody>
      </p:sp>
      <p:sp>
        <p:nvSpPr>
          <p:cNvPr id="14" name="Shape 12"/>
          <p:cNvSpPr/>
          <p:nvPr/>
        </p:nvSpPr>
        <p:spPr>
          <a:xfrm>
            <a:off x="594360" y="4096512"/>
            <a:ext cx="11002975" cy="1188720"/>
          </a:xfrm>
          <a:prstGeom prst="roundRect">
            <a:avLst>
              <a:gd name="adj" fmla="val 6923"/>
            </a:avLst>
          </a:prstGeom>
          <a:solidFill>
            <a:srgbClr val="F4F7F9"/>
          </a:solidFill>
          <a:ln w="12700">
            <a:solidFill>
              <a:srgbClr val="F4F7F9"/>
            </a:solidFill>
            <a:prstDash val="solid"/>
          </a:ln>
        </p:spPr>
      </p:sp>
      <p:sp>
        <p:nvSpPr>
          <p:cNvPr id="15" name="Shape 13"/>
          <p:cNvSpPr/>
          <p:nvPr/>
        </p:nvSpPr>
        <p:spPr>
          <a:xfrm>
            <a:off x="914400" y="4398264"/>
            <a:ext cx="585216" cy="585216"/>
          </a:xfrm>
          <a:prstGeom prst="ellipse">
            <a:avLst/>
          </a:prstGeom>
          <a:solidFill>
            <a:srgbClr val="0E5C7A"/>
          </a:solidFill>
          <a:ln w="12700">
            <a:solidFill>
              <a:srgbClr val="0E5C7A"/>
            </a:solidFill>
            <a:prstDash val="solid"/>
          </a:ln>
        </p:spPr>
      </p:sp>
      <p:sp>
        <p:nvSpPr>
          <p:cNvPr id="16" name="Text 14"/>
          <p:cNvSpPr txBox="1"/>
          <p:nvPr/>
        </p:nvSpPr>
        <p:spPr>
          <a:xfrm>
            <a:off x="914400" y="4398264"/>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7" name="Text 15"/>
          <p:cNvSpPr txBox="1"/>
          <p:nvPr/>
        </p:nvSpPr>
        <p:spPr>
          <a:xfrm>
            <a:off x="1691640" y="4261104"/>
            <a:ext cx="9539935" cy="347472"/>
          </a:xfrm>
          <a:prstGeom prst="rect">
            <a:avLst/>
          </a:prstGeom>
          <a:noFill/>
          <a:ln/>
        </p:spPr>
        <p:txBody>
          <a:bodyPr wrap="square" lIns="0" tIns="0" rIns="0" bIns="0" rtlCol="0" anchor="ctr"/>
          <a:lstStyle/>
          <a:p>
            <a:pPr indent="0" marL="0">
              <a:buNone/>
            </a:pPr>
            <a:r>
              <a:rPr lang="en-US" sz="1700" b="1" dirty="0">
                <a:solidFill>
                  <a:srgbClr val="0E5C7A"/>
                </a:solidFill>
                <a:latin typeface="Cambria" pitchFamily="34" charset="0"/>
                <a:ea typeface="Cambria" pitchFamily="34" charset="-122"/>
                <a:cs typeface="Cambria" pitchFamily="34" charset="-120"/>
              </a:rPr>
              <a:t>Silent blind spots</a:t>
            </a:r>
            <a:endParaRPr lang="en-US" sz="1700" dirty="0"/>
          </a:p>
        </p:txBody>
      </p:sp>
      <p:sp>
        <p:nvSpPr>
          <p:cNvPr id="18" name="Text 16"/>
          <p:cNvSpPr txBox="1"/>
          <p:nvPr/>
        </p:nvSpPr>
        <p:spPr>
          <a:xfrm>
            <a:off x="1691640" y="4626864"/>
            <a:ext cx="9448495" cy="566928"/>
          </a:xfrm>
          <a:prstGeom prst="rect">
            <a:avLst/>
          </a:prstGeom>
          <a:noFill/>
          <a:ln/>
        </p:spPr>
        <p:txBody>
          <a:bodyPr wrap="square" lIns="0" tIns="0" rIns="0" bIns="0" rtlCol="0" anchor="t"/>
          <a:lstStyle/>
          <a:p>
            <a:pPr indent="0" marL="0">
              <a:lnSpc>
                <a:spcPts val="1800"/>
              </a:lnSpc>
              <a:buNone/>
            </a:pPr>
            <a:r>
              <a:rPr lang="en-US" sz="1300" dirty="0">
                <a:solidFill>
                  <a:srgbClr val="37474F"/>
                </a:solidFill>
                <a:latin typeface="Calibri" pitchFamily="34" charset="0"/>
                <a:ea typeface="Calibri" pitchFamily="34" charset="-122"/>
                <a:cs typeface="Calibri" pitchFamily="34" charset="-120"/>
              </a:rPr>
              <a:t>Several lesions that define severe disease are not labelled in any public dataset. Existing systems cannot see them — and emit a confident grade anyway.</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94360" y="146304"/>
            <a:ext cx="11002975" cy="274320"/>
          </a:xfrm>
          <a:prstGeom prst="rect">
            <a:avLst/>
          </a:prstGeom>
          <a:noFill/>
          <a:ln/>
        </p:spPr>
        <p:txBody>
          <a:bodyPr wrap="square" lIns="0" tIns="0" rIns="0" bIns="0" rtlCol="0" anchor="ctr"/>
          <a:lstStyle/>
          <a:p>
            <a:pPr indent="0" marL="0">
              <a:buNone/>
            </a:pPr>
            <a:r>
              <a:rPr lang="en-US" sz="1100" b="1" spc="200" kern="0" dirty="0">
                <a:solidFill>
                  <a:srgbClr val="E8833A"/>
                </a:solidFill>
                <a:latin typeface="Calibri" pitchFamily="34" charset="0"/>
                <a:ea typeface="Calibri" pitchFamily="34" charset="-122"/>
                <a:cs typeface="Calibri" pitchFamily="34" charset="-120"/>
              </a:rPr>
              <a:t>MY APPROACH</a:t>
            </a:r>
            <a:endParaRPr lang="en-US" sz="1100" dirty="0"/>
          </a:p>
        </p:txBody>
      </p:sp>
      <p:sp>
        <p:nvSpPr>
          <p:cNvPr id="3" name="Text 1"/>
          <p:cNvSpPr txBox="1"/>
          <p:nvPr/>
        </p:nvSpPr>
        <p:spPr>
          <a:xfrm>
            <a:off x="594360" y="384048"/>
            <a:ext cx="11002975" cy="685800"/>
          </a:xfrm>
          <a:prstGeom prst="rect">
            <a:avLst/>
          </a:prstGeom>
          <a:noFill/>
          <a:ln/>
        </p:spPr>
        <p:txBody>
          <a:bodyPr wrap="square" lIns="0" tIns="0" rIns="0" bIns="0" rtlCol="0" anchor="ctr"/>
          <a:lstStyle/>
          <a:p>
            <a:pPr indent="0" marL="0">
              <a:buNone/>
            </a:pPr>
            <a:r>
              <a:rPr lang="en-US" sz="3200" b="1" dirty="0">
                <a:solidFill>
                  <a:srgbClr val="0E5C7A"/>
                </a:solidFill>
                <a:latin typeface="Cambria" pitchFamily="34" charset="0"/>
                <a:ea typeface="Cambria" pitchFamily="34" charset="-122"/>
                <a:cs typeface="Cambria" pitchFamily="34" charset="-120"/>
              </a:rPr>
              <a:t>Two pathways. Different evidence. Let them disagree.</a:t>
            </a:r>
            <a:endParaRPr lang="en-US" sz="3200" dirty="0"/>
          </a:p>
        </p:txBody>
      </p:sp>
      <p:sp>
        <p:nvSpPr>
          <p:cNvPr id="4" name="Shape 2"/>
          <p:cNvSpPr/>
          <p:nvPr/>
        </p:nvSpPr>
        <p:spPr>
          <a:xfrm>
            <a:off x="594360" y="1353312"/>
            <a:ext cx="5074920" cy="1691640"/>
          </a:xfrm>
          <a:prstGeom prst="roundRect">
            <a:avLst>
              <a:gd name="adj" fmla="val 4865"/>
            </a:avLst>
          </a:prstGeom>
          <a:solidFill>
            <a:srgbClr val="EAF0F4"/>
          </a:solidFill>
          <a:ln w="12700">
            <a:solidFill>
              <a:srgbClr val="EAF0F4"/>
            </a:solidFill>
            <a:prstDash val="solid"/>
          </a:ln>
        </p:spPr>
      </p:sp>
      <p:sp>
        <p:nvSpPr>
          <p:cNvPr id="5" name="Text 3"/>
          <p:cNvSpPr txBox="1"/>
          <p:nvPr/>
        </p:nvSpPr>
        <p:spPr>
          <a:xfrm>
            <a:off x="914400" y="1481328"/>
            <a:ext cx="4434840" cy="292608"/>
          </a:xfrm>
          <a:prstGeom prst="rect">
            <a:avLst/>
          </a:prstGeom>
          <a:noFill/>
          <a:ln/>
        </p:spPr>
        <p:txBody>
          <a:bodyPr wrap="square" lIns="0" tIns="0" rIns="0" bIns="0" rtlCol="0" anchor="ctr"/>
          <a:lstStyle/>
          <a:p>
            <a:pPr indent="0" marL="0">
              <a:buNone/>
            </a:pPr>
            <a:r>
              <a:rPr lang="en-US" sz="1100" b="1" spc="150" kern="0" dirty="0">
                <a:solidFill>
                  <a:srgbClr val="0E5C7A"/>
                </a:solidFill>
                <a:latin typeface="Calibri" pitchFamily="34" charset="0"/>
                <a:ea typeface="Calibri" pitchFamily="34" charset="-122"/>
                <a:cs typeface="Calibri" pitchFamily="34" charset="-120"/>
              </a:rPr>
              <a:t>GRADING PATHWAY</a:t>
            </a:r>
            <a:endParaRPr lang="en-US" sz="1100" dirty="0"/>
          </a:p>
        </p:txBody>
      </p:sp>
      <p:sp>
        <p:nvSpPr>
          <p:cNvPr id="6" name="Text 4"/>
          <p:cNvSpPr txBox="1"/>
          <p:nvPr/>
        </p:nvSpPr>
        <p:spPr>
          <a:xfrm>
            <a:off x="914400" y="1792224"/>
            <a:ext cx="4434840" cy="310896"/>
          </a:xfrm>
          <a:prstGeom prst="rect">
            <a:avLst/>
          </a:prstGeom>
          <a:noFill/>
          <a:ln/>
        </p:spPr>
        <p:txBody>
          <a:bodyPr wrap="square" lIns="0" tIns="0" rIns="0" bIns="0" rtlCol="0" anchor="ctr"/>
          <a:lstStyle/>
          <a:p>
            <a:pPr indent="0" marL="0">
              <a:buNone/>
            </a:pPr>
            <a:r>
              <a:rPr lang="en-US" sz="1600" b="1" dirty="0">
                <a:solidFill>
                  <a:srgbClr val="24313D"/>
                </a:solidFill>
                <a:latin typeface="Cambria" pitchFamily="34" charset="0"/>
                <a:ea typeface="Cambria" pitchFamily="34" charset="-122"/>
                <a:cs typeface="Cambria" pitchFamily="34" charset="-120"/>
              </a:rPr>
              <a:t>EfficientNet-B0, ordinal head</a:t>
            </a:r>
            <a:endParaRPr lang="en-US" sz="1600" dirty="0"/>
          </a:p>
        </p:txBody>
      </p:sp>
      <p:sp>
        <p:nvSpPr>
          <p:cNvPr id="7" name="Text 5"/>
          <p:cNvSpPr txBox="1"/>
          <p:nvPr/>
        </p:nvSpPr>
        <p:spPr>
          <a:xfrm>
            <a:off x="914400" y="2176272"/>
            <a:ext cx="4434840" cy="73152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Trained on image-level grades</a:t>
            </a:r>
            <a:endParaRPr lang="en-US" sz="1300" dirty="0"/>
          </a:p>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from EyePACS</a:t>
            </a:r>
            <a:endParaRPr lang="en-US" sz="1300" dirty="0"/>
          </a:p>
        </p:txBody>
      </p:sp>
      <p:sp>
        <p:nvSpPr>
          <p:cNvPr id="8" name="Shape 6"/>
          <p:cNvSpPr/>
          <p:nvPr/>
        </p:nvSpPr>
        <p:spPr>
          <a:xfrm>
            <a:off x="6583680" y="1353312"/>
            <a:ext cx="5074920" cy="1691640"/>
          </a:xfrm>
          <a:prstGeom prst="roundRect">
            <a:avLst>
              <a:gd name="adj" fmla="val 4865"/>
            </a:avLst>
          </a:prstGeom>
          <a:solidFill>
            <a:srgbClr val="FDF0E4"/>
          </a:solidFill>
          <a:ln w="12700">
            <a:solidFill>
              <a:srgbClr val="FDF0E4"/>
            </a:solidFill>
            <a:prstDash val="solid"/>
          </a:ln>
        </p:spPr>
      </p:sp>
      <p:sp>
        <p:nvSpPr>
          <p:cNvPr id="9" name="Text 7"/>
          <p:cNvSpPr txBox="1"/>
          <p:nvPr/>
        </p:nvSpPr>
        <p:spPr>
          <a:xfrm>
            <a:off x="6903720" y="1481328"/>
            <a:ext cx="4434840" cy="292608"/>
          </a:xfrm>
          <a:prstGeom prst="rect">
            <a:avLst/>
          </a:prstGeom>
          <a:noFill/>
          <a:ln/>
        </p:spPr>
        <p:txBody>
          <a:bodyPr wrap="square" lIns="0" tIns="0" rIns="0" bIns="0" rtlCol="0" anchor="ctr"/>
          <a:lstStyle/>
          <a:p>
            <a:pPr indent="0" marL="0">
              <a:buNone/>
            </a:pPr>
            <a:r>
              <a:rPr lang="en-US" sz="1100" b="1" spc="150" kern="0" dirty="0">
                <a:solidFill>
                  <a:srgbClr val="E8833A"/>
                </a:solidFill>
                <a:latin typeface="Calibri" pitchFamily="34" charset="0"/>
                <a:ea typeface="Calibri" pitchFamily="34" charset="-122"/>
                <a:cs typeface="Calibri" pitchFamily="34" charset="-120"/>
              </a:rPr>
              <a:t>EVIDENCE PATHWAY</a:t>
            </a:r>
            <a:endParaRPr lang="en-US" sz="1100" dirty="0"/>
          </a:p>
        </p:txBody>
      </p:sp>
      <p:sp>
        <p:nvSpPr>
          <p:cNvPr id="10" name="Text 8"/>
          <p:cNvSpPr txBox="1"/>
          <p:nvPr/>
        </p:nvSpPr>
        <p:spPr>
          <a:xfrm>
            <a:off x="6903720" y="1792224"/>
            <a:ext cx="4434840" cy="310896"/>
          </a:xfrm>
          <a:prstGeom prst="rect">
            <a:avLst/>
          </a:prstGeom>
          <a:noFill/>
          <a:ln/>
        </p:spPr>
        <p:txBody>
          <a:bodyPr wrap="square" lIns="0" tIns="0" rIns="0" bIns="0" rtlCol="0" anchor="ctr"/>
          <a:lstStyle/>
          <a:p>
            <a:pPr indent="0" marL="0">
              <a:buNone/>
            </a:pPr>
            <a:r>
              <a:rPr lang="en-US" sz="1600" b="1" dirty="0">
                <a:solidFill>
                  <a:srgbClr val="24313D"/>
                </a:solidFill>
                <a:latin typeface="Cambria" pitchFamily="34" charset="0"/>
                <a:ea typeface="Cambria" pitchFamily="34" charset="-122"/>
                <a:cs typeface="Cambria" pitchFamily="34" charset="-120"/>
              </a:rPr>
              <a:t>ResNet18-UNet, 4 lesion channels</a:t>
            </a:r>
            <a:endParaRPr lang="en-US" sz="1600" dirty="0"/>
          </a:p>
        </p:txBody>
      </p:sp>
      <p:sp>
        <p:nvSpPr>
          <p:cNvPr id="11" name="Text 9"/>
          <p:cNvSpPr txBox="1"/>
          <p:nvPr/>
        </p:nvSpPr>
        <p:spPr>
          <a:xfrm>
            <a:off x="6903720" y="2176272"/>
            <a:ext cx="4434840" cy="73152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Trained on pixel-level lesion masks</a:t>
            </a:r>
            <a:endParaRPr lang="en-US" sz="1300" dirty="0"/>
          </a:p>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from DDR and IDRiD</a:t>
            </a:r>
            <a:endParaRPr lang="en-US" sz="1300" dirty="0"/>
          </a:p>
        </p:txBody>
      </p:sp>
      <p:sp>
        <p:nvSpPr>
          <p:cNvPr id="12" name="Text 10"/>
          <p:cNvSpPr txBox="1"/>
          <p:nvPr/>
        </p:nvSpPr>
        <p:spPr>
          <a:xfrm>
            <a:off x="5724144" y="1691640"/>
            <a:ext cx="804672" cy="1005840"/>
          </a:xfrm>
          <a:prstGeom prst="rect">
            <a:avLst/>
          </a:prstGeom>
          <a:noFill/>
          <a:ln/>
        </p:spPr>
        <p:txBody>
          <a:bodyPr wrap="square" lIns="0" tIns="0" rIns="0" bIns="0" rtlCol="0" anchor="ctr"/>
          <a:lstStyle/>
          <a:p>
            <a:pPr algn="ctr" indent="0" marL="0">
              <a:lnSpc>
                <a:spcPts val="1200"/>
              </a:lnSpc>
              <a:buNone/>
            </a:pPr>
            <a:r>
              <a:rPr lang="en-US" sz="950" b="1" dirty="0">
                <a:solidFill>
                  <a:srgbClr val="C0392B"/>
                </a:solidFill>
                <a:latin typeface="Calibri" pitchFamily="34" charset="0"/>
                <a:ea typeface="Calibri" pitchFamily="34" charset="-122"/>
                <a:cs typeface="Calibri" pitchFamily="34" charset="-120"/>
              </a:rPr>
              <a:t>NO</a:t>
            </a:r>
            <a:endParaRPr lang="en-US" sz="950" dirty="0"/>
          </a:p>
          <a:p>
            <a:pPr algn="ctr" indent="0" marL="0">
              <a:lnSpc>
                <a:spcPts val="1200"/>
              </a:lnSpc>
              <a:buNone/>
            </a:pPr>
            <a:r>
              <a:rPr lang="en-US" sz="950" b="1" dirty="0">
                <a:solidFill>
                  <a:srgbClr val="C0392B"/>
                </a:solidFill>
                <a:latin typeface="Calibri" pitchFamily="34" charset="0"/>
                <a:ea typeface="Calibri" pitchFamily="34" charset="-122"/>
                <a:cs typeface="Calibri" pitchFamily="34" charset="-120"/>
              </a:rPr>
              <a:t>SHARED</a:t>
            </a:r>
            <a:endParaRPr lang="en-US" sz="950" dirty="0"/>
          </a:p>
          <a:p>
            <a:pPr algn="ctr" indent="0" marL="0">
              <a:lnSpc>
                <a:spcPts val="1200"/>
              </a:lnSpc>
              <a:buNone/>
            </a:pPr>
            <a:r>
              <a:rPr lang="en-US" sz="950" b="1" dirty="0">
                <a:solidFill>
                  <a:srgbClr val="C0392B"/>
                </a:solidFill>
                <a:latin typeface="Calibri" pitchFamily="34" charset="0"/>
                <a:ea typeface="Calibri" pitchFamily="34" charset="-122"/>
                <a:cs typeface="Calibri" pitchFamily="34" charset="-120"/>
              </a:rPr>
              <a:t>WEIGHTS</a:t>
            </a:r>
            <a:endParaRPr lang="en-US" sz="950" dirty="0"/>
          </a:p>
        </p:txBody>
      </p:sp>
      <p:sp>
        <p:nvSpPr>
          <p:cNvPr id="13" name="Shape 11"/>
          <p:cNvSpPr/>
          <p:nvPr/>
        </p:nvSpPr>
        <p:spPr>
          <a:xfrm>
            <a:off x="2985516" y="3127248"/>
            <a:ext cx="292608" cy="411480"/>
          </a:xfrm>
          <a:prstGeom prst="downArrow">
            <a:avLst/>
          </a:prstGeom>
          <a:solidFill>
            <a:srgbClr val="0E5C7A"/>
          </a:solidFill>
          <a:ln w="12700">
            <a:solidFill>
              <a:srgbClr val="0E5C7A"/>
            </a:solidFill>
            <a:prstDash val="solid"/>
          </a:ln>
        </p:spPr>
      </p:sp>
      <p:sp>
        <p:nvSpPr>
          <p:cNvPr id="14" name="Shape 12"/>
          <p:cNvSpPr/>
          <p:nvPr/>
        </p:nvSpPr>
        <p:spPr>
          <a:xfrm>
            <a:off x="8974836" y="3127248"/>
            <a:ext cx="292608" cy="411480"/>
          </a:xfrm>
          <a:prstGeom prst="downArrow">
            <a:avLst/>
          </a:prstGeom>
          <a:solidFill>
            <a:srgbClr val="E8833A"/>
          </a:solidFill>
          <a:ln w="12700">
            <a:solidFill>
              <a:srgbClr val="E8833A"/>
            </a:solidFill>
            <a:prstDash val="solid"/>
          </a:ln>
        </p:spPr>
      </p:sp>
      <p:sp>
        <p:nvSpPr>
          <p:cNvPr id="15" name="Shape 13"/>
          <p:cNvSpPr/>
          <p:nvPr/>
        </p:nvSpPr>
        <p:spPr>
          <a:xfrm>
            <a:off x="594360" y="3657600"/>
            <a:ext cx="11002975" cy="914400"/>
          </a:xfrm>
          <a:prstGeom prst="roundRect">
            <a:avLst>
              <a:gd name="adj" fmla="val 9000"/>
            </a:avLst>
          </a:prstGeom>
          <a:solidFill>
            <a:srgbClr val="10243B"/>
          </a:solidFill>
          <a:ln w="12700">
            <a:solidFill>
              <a:srgbClr val="10243B"/>
            </a:solidFill>
            <a:prstDash val="solid"/>
          </a:ln>
        </p:spPr>
      </p:sp>
      <p:sp>
        <p:nvSpPr>
          <p:cNvPr id="16" name="Text 14"/>
          <p:cNvSpPr txBox="1"/>
          <p:nvPr/>
        </p:nvSpPr>
        <p:spPr>
          <a:xfrm>
            <a:off x="1005840" y="3767328"/>
            <a:ext cx="4572000" cy="329184"/>
          </a:xfrm>
          <a:prstGeom prst="rect">
            <a:avLst/>
          </a:prstGeom>
          <a:noFill/>
          <a:ln/>
        </p:spPr>
        <p:txBody>
          <a:bodyPr wrap="square" lIns="0" tIns="0" rIns="0" bIns="0" rtlCol="0" anchor="ctr"/>
          <a:lstStyle/>
          <a:p>
            <a:pPr indent="0" marL="0">
              <a:buNone/>
            </a:pPr>
            <a:r>
              <a:rPr lang="en-US" sz="1100" b="1" spc="200" kern="0" dirty="0">
                <a:solidFill>
                  <a:srgbClr val="E8833A"/>
                </a:solidFill>
                <a:latin typeface="Calibri" pitchFamily="34" charset="0"/>
                <a:ea typeface="Calibri" pitchFamily="34" charset="-122"/>
                <a:cs typeface="Calibri" pitchFamily="34" charset="-120"/>
              </a:rPr>
              <a:t>DISAGREEMENT GATE</a:t>
            </a:r>
            <a:endParaRPr lang="en-US" sz="1100" dirty="0"/>
          </a:p>
        </p:txBody>
      </p:sp>
      <p:sp>
        <p:nvSpPr>
          <p:cNvPr id="17" name="Text 15"/>
          <p:cNvSpPr txBox="1"/>
          <p:nvPr/>
        </p:nvSpPr>
        <p:spPr>
          <a:xfrm>
            <a:off x="1005840" y="4096512"/>
            <a:ext cx="10180015" cy="384048"/>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Defer when the two pathways disagree — not when the model is unsure</a:t>
            </a:r>
            <a:endParaRPr lang="en-US" sz="1700" dirty="0"/>
          </a:p>
        </p:txBody>
      </p:sp>
      <p:sp>
        <p:nvSpPr>
          <p:cNvPr id="18" name="Shape 16"/>
          <p:cNvSpPr/>
          <p:nvPr/>
        </p:nvSpPr>
        <p:spPr>
          <a:xfrm>
            <a:off x="594360" y="4736592"/>
            <a:ext cx="2627300" cy="502920"/>
          </a:xfrm>
          <a:prstGeom prst="roundRect">
            <a:avLst>
              <a:gd name="adj" fmla="val 12727"/>
            </a:avLst>
          </a:prstGeom>
          <a:solidFill>
            <a:srgbClr val="2E7D32"/>
          </a:solidFill>
          <a:ln w="12700">
            <a:solidFill>
              <a:srgbClr val="2E7D32"/>
            </a:solidFill>
            <a:prstDash val="solid"/>
          </a:ln>
        </p:spPr>
      </p:sp>
      <p:sp>
        <p:nvSpPr>
          <p:cNvPr id="19" name="Text 17"/>
          <p:cNvSpPr txBox="1"/>
          <p:nvPr/>
        </p:nvSpPr>
        <p:spPr>
          <a:xfrm>
            <a:off x="594360" y="4736592"/>
            <a:ext cx="262730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ACCEPT</a:t>
            </a:r>
            <a:endParaRPr lang="en-US" sz="1250" dirty="0"/>
          </a:p>
        </p:txBody>
      </p:sp>
      <p:sp>
        <p:nvSpPr>
          <p:cNvPr id="20" name="Shape 18"/>
          <p:cNvSpPr/>
          <p:nvPr/>
        </p:nvSpPr>
        <p:spPr>
          <a:xfrm>
            <a:off x="3386252" y="4736592"/>
            <a:ext cx="2627300" cy="502920"/>
          </a:xfrm>
          <a:prstGeom prst="roundRect">
            <a:avLst>
              <a:gd name="adj" fmla="val 12727"/>
            </a:avLst>
          </a:prstGeom>
          <a:solidFill>
            <a:srgbClr val="F9A825"/>
          </a:solidFill>
          <a:ln w="12700">
            <a:solidFill>
              <a:srgbClr val="F9A825"/>
            </a:solidFill>
            <a:prstDash val="solid"/>
          </a:ln>
        </p:spPr>
      </p:sp>
      <p:sp>
        <p:nvSpPr>
          <p:cNvPr id="21" name="Text 19"/>
          <p:cNvSpPr txBox="1"/>
          <p:nvPr/>
        </p:nvSpPr>
        <p:spPr>
          <a:xfrm>
            <a:off x="3386252" y="4736592"/>
            <a:ext cx="262730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ADJACENT GRADES</a:t>
            </a:r>
            <a:endParaRPr lang="en-US" sz="1250" dirty="0"/>
          </a:p>
        </p:txBody>
      </p:sp>
      <p:sp>
        <p:nvSpPr>
          <p:cNvPr id="22" name="Shape 20"/>
          <p:cNvSpPr/>
          <p:nvPr/>
        </p:nvSpPr>
        <p:spPr>
          <a:xfrm>
            <a:off x="6178144" y="4736592"/>
            <a:ext cx="2627300" cy="502920"/>
          </a:xfrm>
          <a:prstGeom prst="roundRect">
            <a:avLst>
              <a:gd name="adj" fmla="val 12727"/>
            </a:avLst>
          </a:prstGeom>
          <a:solidFill>
            <a:srgbClr val="EF6C00"/>
          </a:solidFill>
          <a:ln w="12700">
            <a:solidFill>
              <a:srgbClr val="EF6C00"/>
            </a:solidFill>
            <a:prstDash val="solid"/>
          </a:ln>
        </p:spPr>
      </p:sp>
      <p:sp>
        <p:nvSpPr>
          <p:cNvPr id="23" name="Text 21"/>
          <p:cNvSpPr txBox="1"/>
          <p:nvPr/>
        </p:nvSpPr>
        <p:spPr>
          <a:xfrm>
            <a:off x="6178144" y="4736592"/>
            <a:ext cx="262730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DEFER</a:t>
            </a:r>
            <a:endParaRPr lang="en-US" sz="1250" dirty="0"/>
          </a:p>
        </p:txBody>
      </p:sp>
      <p:sp>
        <p:nvSpPr>
          <p:cNvPr id="24" name="Shape 22"/>
          <p:cNvSpPr/>
          <p:nvPr/>
        </p:nvSpPr>
        <p:spPr>
          <a:xfrm>
            <a:off x="8970035" y="4736592"/>
            <a:ext cx="2627300" cy="502920"/>
          </a:xfrm>
          <a:prstGeom prst="roundRect">
            <a:avLst>
              <a:gd name="adj" fmla="val 12727"/>
            </a:avLst>
          </a:prstGeom>
          <a:solidFill>
            <a:srgbClr val="5A6B78"/>
          </a:solidFill>
          <a:ln w="12700">
            <a:solidFill>
              <a:srgbClr val="5A6B78"/>
            </a:solidFill>
            <a:prstDash val="solid"/>
          </a:ln>
        </p:spPr>
      </p:sp>
      <p:sp>
        <p:nvSpPr>
          <p:cNvPr id="25" name="Text 23"/>
          <p:cNvSpPr txBox="1"/>
          <p:nvPr/>
        </p:nvSpPr>
        <p:spPr>
          <a:xfrm>
            <a:off x="8970035" y="4736592"/>
            <a:ext cx="2627300" cy="50292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REACQUIRE</a:t>
            </a:r>
            <a:endParaRPr lang="en-US" sz="1250" dirty="0"/>
          </a:p>
        </p:txBody>
      </p:sp>
      <p:sp>
        <p:nvSpPr>
          <p:cNvPr id="26" name="Text 24"/>
          <p:cNvSpPr txBox="1"/>
          <p:nvPr/>
        </p:nvSpPr>
        <p:spPr>
          <a:xfrm>
            <a:off x="594360" y="5413248"/>
            <a:ext cx="11002975" cy="320040"/>
          </a:xfrm>
          <a:prstGeom prst="rect">
            <a:avLst/>
          </a:prstGeom>
          <a:noFill/>
          <a:ln/>
        </p:spPr>
        <p:txBody>
          <a:bodyPr wrap="square" lIns="0" tIns="0" rIns="0" bIns="0" rtlCol="0" anchor="ctr"/>
          <a:lstStyle/>
          <a:p>
            <a:pPr indent="0" marL="0">
              <a:buNone/>
            </a:pPr>
            <a:r>
              <a:rPr lang="en-US" sz="1350" i="1" dirty="0">
                <a:solidFill>
                  <a:srgbClr val="0E5C7A"/>
                </a:solidFill>
                <a:latin typeface="Calibri" pitchFamily="34" charset="0"/>
                <a:ea typeface="Calibri" pitchFamily="34" charset="-122"/>
                <a:cs typeface="Calibri" pitchFamily="34" charset="-120"/>
              </a:rPr>
              <a:t>A second opinion trained on different evidence can dissent. A confidence score cannot.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146304"/>
            <a:ext cx="11002975" cy="274320"/>
          </a:xfrm>
          <a:prstGeom prst="rect">
            <a:avLst/>
          </a:prstGeom>
          <a:noFill/>
          <a:ln/>
        </p:spPr>
        <p:txBody>
          <a:bodyPr wrap="square" lIns="0" tIns="0" rIns="0" bIns="0" rtlCol="0" anchor="ctr"/>
          <a:lstStyle/>
          <a:p>
            <a:pPr indent="0" marL="0">
              <a:buNone/>
            </a:pPr>
            <a:r>
              <a:rPr lang="en-US" sz="1100" b="1" spc="200" kern="0" dirty="0">
                <a:solidFill>
                  <a:srgbClr val="E8833A"/>
                </a:solidFill>
                <a:latin typeface="Calibri" pitchFamily="34" charset="0"/>
                <a:ea typeface="Calibri" pitchFamily="34" charset="-122"/>
                <a:cs typeface="Calibri" pitchFamily="34" charset="-120"/>
              </a:rPr>
              <a:t>WHY IT MATTERS</a:t>
            </a:r>
            <a:endParaRPr lang="en-US" sz="1100" dirty="0"/>
          </a:p>
        </p:txBody>
      </p:sp>
      <p:sp>
        <p:nvSpPr>
          <p:cNvPr id="3" name="Text 1"/>
          <p:cNvSpPr txBox="1"/>
          <p:nvPr/>
        </p:nvSpPr>
        <p:spPr>
          <a:xfrm>
            <a:off x="594360" y="384048"/>
            <a:ext cx="11002975" cy="685800"/>
          </a:xfrm>
          <a:prstGeom prst="rect">
            <a:avLst/>
          </a:prstGeom>
          <a:noFill/>
          <a:ln/>
        </p:spPr>
        <p:txBody>
          <a:bodyPr wrap="square" lIns="0" tIns="0" rIns="0" bIns="0" rtlCol="0" anchor="ctr"/>
          <a:lstStyle/>
          <a:p>
            <a:pPr indent="0" marL="0">
              <a:buNone/>
            </a:pPr>
            <a:r>
              <a:rPr lang="en-US" sz="3200" b="1" dirty="0">
                <a:solidFill>
                  <a:srgbClr val="0E5C7A"/>
                </a:solidFill>
                <a:latin typeface="Cambria" pitchFamily="34" charset="0"/>
                <a:ea typeface="Cambria" pitchFamily="34" charset="-122"/>
                <a:cs typeface="Cambria" pitchFamily="34" charset="-120"/>
              </a:rPr>
              <a:t>The case confidence-gating gets wrong</a:t>
            </a:r>
            <a:endParaRPr lang="en-US" sz="3200" dirty="0"/>
          </a:p>
        </p:txBody>
      </p:sp>
      <p:sp>
        <p:nvSpPr>
          <p:cNvPr id="4" name="Shape 2"/>
          <p:cNvSpPr/>
          <p:nvPr/>
        </p:nvSpPr>
        <p:spPr>
          <a:xfrm>
            <a:off x="594360" y="1371600"/>
            <a:ext cx="5272888" cy="2148840"/>
          </a:xfrm>
          <a:prstGeom prst="roundRect">
            <a:avLst>
              <a:gd name="adj" fmla="val 3830"/>
            </a:avLst>
          </a:prstGeom>
          <a:solidFill>
            <a:srgbClr val="EAF0F4"/>
          </a:solidFill>
          <a:ln w="12700">
            <a:solidFill>
              <a:srgbClr val="EAF0F4"/>
            </a:solidFill>
            <a:prstDash val="solid"/>
          </a:ln>
        </p:spPr>
      </p:sp>
      <p:sp>
        <p:nvSpPr>
          <p:cNvPr id="5" name="Text 3"/>
          <p:cNvSpPr txBox="1"/>
          <p:nvPr/>
        </p:nvSpPr>
        <p:spPr>
          <a:xfrm>
            <a:off x="914400" y="1508760"/>
            <a:ext cx="4632808" cy="274320"/>
          </a:xfrm>
          <a:prstGeom prst="rect">
            <a:avLst/>
          </a:prstGeom>
          <a:noFill/>
          <a:ln/>
        </p:spPr>
        <p:txBody>
          <a:bodyPr wrap="square" lIns="0" tIns="0" rIns="0" bIns="0" rtlCol="0" anchor="ctr"/>
          <a:lstStyle/>
          <a:p>
            <a:pPr indent="0" marL="0">
              <a:buNone/>
            </a:pPr>
            <a:r>
              <a:rPr lang="en-US" sz="1050" b="1" spc="150" kern="0" dirty="0">
                <a:solidFill>
                  <a:srgbClr val="5A6B78"/>
                </a:solidFill>
                <a:latin typeface="Calibri" pitchFamily="34" charset="0"/>
                <a:ea typeface="Calibri" pitchFamily="34" charset="-122"/>
                <a:cs typeface="Calibri" pitchFamily="34" charset="-120"/>
              </a:rPr>
              <a:t>GRADING PATHWAY SAYS</a:t>
            </a:r>
            <a:endParaRPr lang="en-US" sz="1050" dirty="0"/>
          </a:p>
        </p:txBody>
      </p:sp>
      <p:sp>
        <p:nvSpPr>
          <p:cNvPr id="6" name="Text 4"/>
          <p:cNvSpPr txBox="1"/>
          <p:nvPr/>
        </p:nvSpPr>
        <p:spPr>
          <a:xfrm>
            <a:off x="914400" y="1828800"/>
            <a:ext cx="4632808" cy="475488"/>
          </a:xfrm>
          <a:prstGeom prst="rect">
            <a:avLst/>
          </a:prstGeom>
          <a:noFill/>
          <a:ln/>
        </p:spPr>
        <p:txBody>
          <a:bodyPr wrap="square" lIns="0" tIns="0" rIns="0" bIns="0" rtlCol="0" anchor="ctr"/>
          <a:lstStyle/>
          <a:p>
            <a:pPr indent="0" marL="0">
              <a:buNone/>
            </a:pPr>
            <a:r>
              <a:rPr lang="en-US" sz="2600" b="1" dirty="0">
                <a:solidFill>
                  <a:srgbClr val="2E7D32"/>
                </a:solidFill>
                <a:latin typeface="Cambria" pitchFamily="34" charset="0"/>
                <a:ea typeface="Cambria" pitchFamily="34" charset="-122"/>
                <a:cs typeface="Cambria" pitchFamily="34" charset="-120"/>
              </a:rPr>
              <a:t>Grade 0 — No DR</a:t>
            </a:r>
            <a:endParaRPr lang="en-US" sz="2600" dirty="0"/>
          </a:p>
        </p:txBody>
      </p:sp>
      <p:sp>
        <p:nvSpPr>
          <p:cNvPr id="7" name="Text 5"/>
          <p:cNvSpPr txBox="1"/>
          <p:nvPr/>
        </p:nvSpPr>
        <p:spPr>
          <a:xfrm>
            <a:off x="914400" y="2377440"/>
            <a:ext cx="4632808" cy="320040"/>
          </a:xfrm>
          <a:prstGeom prst="rect">
            <a:avLst/>
          </a:prstGeom>
          <a:noFill/>
          <a:ln/>
        </p:spPr>
        <p:txBody>
          <a:bodyPr wrap="square" lIns="0" tIns="0" rIns="0" bIns="0" rtlCol="0" anchor="t"/>
          <a:lstStyle/>
          <a:p>
            <a:pPr indent="0" marL="0">
              <a:buNone/>
            </a:pPr>
            <a:r>
              <a:rPr lang="en-US" sz="1500" b="1" dirty="0">
                <a:solidFill>
                  <a:srgbClr val="24313D"/>
                </a:solidFill>
                <a:latin typeface="Calibri" pitchFamily="34" charset="0"/>
                <a:ea typeface="Calibri" pitchFamily="34" charset="-122"/>
                <a:cs typeface="Calibri" pitchFamily="34" charset="-120"/>
              </a:rPr>
              <a:t>Confidence  p = 0.91</a:t>
            </a:r>
            <a:endParaRPr lang="en-US" sz="1500" dirty="0"/>
          </a:p>
        </p:txBody>
      </p:sp>
      <p:sp>
        <p:nvSpPr>
          <p:cNvPr id="8" name="Text 6"/>
          <p:cNvSpPr txBox="1"/>
          <p:nvPr/>
        </p:nvSpPr>
        <p:spPr>
          <a:xfrm>
            <a:off x="914400" y="2761488"/>
            <a:ext cx="4632808" cy="64008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Highly confident. Any confidence-based system accepts this and moves on.</a:t>
            </a:r>
            <a:endParaRPr lang="en-US" sz="1300" dirty="0"/>
          </a:p>
        </p:txBody>
      </p:sp>
      <p:sp>
        <p:nvSpPr>
          <p:cNvPr id="9" name="Shape 7"/>
          <p:cNvSpPr/>
          <p:nvPr/>
        </p:nvSpPr>
        <p:spPr>
          <a:xfrm>
            <a:off x="6324448" y="1371600"/>
            <a:ext cx="5272888" cy="2148840"/>
          </a:xfrm>
          <a:prstGeom prst="roundRect">
            <a:avLst>
              <a:gd name="adj" fmla="val 3830"/>
            </a:avLst>
          </a:prstGeom>
          <a:solidFill>
            <a:srgbClr val="FDF0E4"/>
          </a:solidFill>
          <a:ln w="12700">
            <a:solidFill>
              <a:srgbClr val="FDF0E4"/>
            </a:solidFill>
            <a:prstDash val="solid"/>
          </a:ln>
        </p:spPr>
      </p:sp>
      <p:sp>
        <p:nvSpPr>
          <p:cNvPr id="10" name="Text 8"/>
          <p:cNvSpPr txBox="1"/>
          <p:nvPr/>
        </p:nvSpPr>
        <p:spPr>
          <a:xfrm>
            <a:off x="6644488" y="1508760"/>
            <a:ext cx="4632808" cy="274320"/>
          </a:xfrm>
          <a:prstGeom prst="rect">
            <a:avLst/>
          </a:prstGeom>
          <a:noFill/>
          <a:ln/>
        </p:spPr>
        <p:txBody>
          <a:bodyPr wrap="square" lIns="0" tIns="0" rIns="0" bIns="0" rtlCol="0" anchor="ctr"/>
          <a:lstStyle/>
          <a:p>
            <a:pPr indent="0" marL="0">
              <a:buNone/>
            </a:pPr>
            <a:r>
              <a:rPr lang="en-US" sz="1050" b="1" spc="150" kern="0" dirty="0">
                <a:solidFill>
                  <a:srgbClr val="5A6B78"/>
                </a:solidFill>
                <a:latin typeface="Calibri" pitchFamily="34" charset="0"/>
                <a:ea typeface="Calibri" pitchFamily="34" charset="-122"/>
                <a:cs typeface="Calibri" pitchFamily="34" charset="-120"/>
              </a:rPr>
              <a:t>EVIDENCE PATHWAY SAYS</a:t>
            </a:r>
            <a:endParaRPr lang="en-US" sz="1050" dirty="0"/>
          </a:p>
        </p:txBody>
      </p:sp>
      <p:sp>
        <p:nvSpPr>
          <p:cNvPr id="11" name="Text 9"/>
          <p:cNvSpPr txBox="1"/>
          <p:nvPr/>
        </p:nvSpPr>
        <p:spPr>
          <a:xfrm>
            <a:off x="6644488" y="1828800"/>
            <a:ext cx="4632808" cy="475488"/>
          </a:xfrm>
          <a:prstGeom prst="rect">
            <a:avLst/>
          </a:prstGeom>
          <a:noFill/>
          <a:ln/>
        </p:spPr>
        <p:txBody>
          <a:bodyPr wrap="square" lIns="0" tIns="0" rIns="0" bIns="0" rtlCol="0" anchor="ctr"/>
          <a:lstStyle/>
          <a:p>
            <a:pPr indent="0" marL="0">
              <a:buNone/>
            </a:pPr>
            <a:r>
              <a:rPr lang="en-US" sz="2600" b="1" dirty="0">
                <a:solidFill>
                  <a:srgbClr val="EF6C00"/>
                </a:solidFill>
                <a:latin typeface="Cambria" pitchFamily="34" charset="0"/>
                <a:ea typeface="Cambria" pitchFamily="34" charset="-122"/>
                <a:cs typeface="Cambria" pitchFamily="34" charset="-120"/>
              </a:rPr>
              <a:t>Grade 2 — Moderate</a:t>
            </a:r>
            <a:endParaRPr lang="en-US" sz="2600" dirty="0"/>
          </a:p>
        </p:txBody>
      </p:sp>
      <p:sp>
        <p:nvSpPr>
          <p:cNvPr id="12" name="Text 10"/>
          <p:cNvSpPr txBox="1"/>
          <p:nvPr/>
        </p:nvSpPr>
        <p:spPr>
          <a:xfrm>
            <a:off x="6644488" y="2377440"/>
            <a:ext cx="4632808" cy="320040"/>
          </a:xfrm>
          <a:prstGeom prst="rect">
            <a:avLst/>
          </a:prstGeom>
          <a:noFill/>
          <a:ln/>
        </p:spPr>
        <p:txBody>
          <a:bodyPr wrap="square" lIns="0" tIns="0" rIns="0" bIns="0" rtlCol="0" anchor="t"/>
          <a:lstStyle/>
          <a:p>
            <a:pPr indent="0" marL="0">
              <a:buNone/>
            </a:pPr>
            <a:r>
              <a:rPr lang="en-US" sz="1500" b="1" dirty="0">
                <a:solidFill>
                  <a:srgbClr val="24313D"/>
                </a:solidFill>
                <a:latin typeface="Calibri" pitchFamily="34" charset="0"/>
                <a:ea typeface="Calibri" pitchFamily="34" charset="-122"/>
                <a:cs typeface="Calibri" pitchFamily="34" charset="-120"/>
              </a:rPr>
              <a:t>14 microaneurysms,  9 haemorrhages</a:t>
            </a:r>
            <a:endParaRPr lang="en-US" sz="1500" dirty="0"/>
          </a:p>
        </p:txBody>
      </p:sp>
      <p:sp>
        <p:nvSpPr>
          <p:cNvPr id="13" name="Text 11"/>
          <p:cNvSpPr txBox="1"/>
          <p:nvPr/>
        </p:nvSpPr>
        <p:spPr>
          <a:xfrm>
            <a:off x="6644488" y="2761488"/>
            <a:ext cx="4632808" cy="640080"/>
          </a:xfrm>
          <a:prstGeom prst="rect">
            <a:avLst/>
          </a:prstGeom>
          <a:noFill/>
          <a:ln/>
        </p:spPr>
        <p:txBody>
          <a:bodyPr wrap="square" lIns="0" tIns="0" rIns="0" bIns="0" rtlCol="0" anchor="t"/>
          <a:lstStyle/>
          <a:p>
            <a:pPr indent="0" marL="0">
              <a:lnSpc>
                <a:spcPts val="1800"/>
              </a:lnSpc>
              <a:buNone/>
            </a:pPr>
            <a:r>
              <a:rPr lang="en-US" sz="1300" dirty="0">
                <a:solidFill>
                  <a:srgbClr val="5A6B78"/>
                </a:solidFill>
                <a:latin typeface="Calibri" pitchFamily="34" charset="0"/>
                <a:ea typeface="Calibri" pitchFamily="34" charset="-122"/>
                <a:cs typeface="Calibri" pitchFamily="34" charset="-120"/>
              </a:rPr>
              <a:t>Found in 3 quadrants. Every count is checkable by a clinician looking at the image.</a:t>
            </a:r>
            <a:endParaRPr lang="en-US" sz="1300" dirty="0"/>
          </a:p>
        </p:txBody>
      </p:sp>
      <p:sp>
        <p:nvSpPr>
          <p:cNvPr id="14" name="Shape 12"/>
          <p:cNvSpPr/>
          <p:nvPr/>
        </p:nvSpPr>
        <p:spPr>
          <a:xfrm>
            <a:off x="594360" y="3794760"/>
            <a:ext cx="11002975" cy="1417320"/>
          </a:xfrm>
          <a:prstGeom prst="roundRect">
            <a:avLst>
              <a:gd name="adj" fmla="val 5806"/>
            </a:avLst>
          </a:prstGeom>
          <a:solidFill>
            <a:srgbClr val="10243B"/>
          </a:solidFill>
          <a:ln w="12700">
            <a:solidFill>
              <a:srgbClr val="10243B"/>
            </a:solidFill>
            <a:prstDash val="solid"/>
          </a:ln>
        </p:spPr>
      </p:sp>
      <p:sp>
        <p:nvSpPr>
          <p:cNvPr id="15" name="Text 13"/>
          <p:cNvSpPr txBox="1"/>
          <p:nvPr/>
        </p:nvSpPr>
        <p:spPr>
          <a:xfrm>
            <a:off x="1051560" y="3950208"/>
            <a:ext cx="10088575" cy="457200"/>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Disagreement = 2   →   DEFER to a human</a:t>
            </a:r>
            <a:endParaRPr lang="en-US" sz="2300" dirty="0"/>
          </a:p>
        </p:txBody>
      </p:sp>
      <p:sp>
        <p:nvSpPr>
          <p:cNvPr id="16" name="Text 14"/>
          <p:cNvSpPr txBox="1"/>
          <p:nvPr/>
        </p:nvSpPr>
        <p:spPr>
          <a:xfrm>
            <a:off x="1051560" y="4443984"/>
            <a:ext cx="10088575" cy="640080"/>
          </a:xfrm>
          <a:prstGeom prst="rect">
            <a:avLst/>
          </a:prstGeom>
          <a:noFill/>
          <a:ln/>
        </p:spPr>
        <p:txBody>
          <a:bodyPr wrap="square" lIns="0" tIns="0" rIns="0" bIns="0" rtlCol="0" anchor="ctr"/>
          <a:lstStyle/>
          <a:p>
            <a:pPr indent="0" marL="0">
              <a:lnSpc>
                <a:spcPts val="2100"/>
              </a:lnSpc>
              <a:buNone/>
            </a:pPr>
            <a:r>
              <a:rPr lang="en-US" sz="1450" dirty="0">
                <a:solidFill>
                  <a:srgbClr val="A8C5D6"/>
                </a:solidFill>
                <a:latin typeface="Calibri" pitchFamily="34" charset="0"/>
                <a:ea typeface="Calibri" pitchFamily="34" charset="-122"/>
                <a:cs typeface="Calibri" pitchFamily="34" charset="-120"/>
              </a:rPr>
              <a:t>Confidence gating would have accepted this case — and been wrong. My system catches it because the second opinion was trained on entirely different evidence.</a:t>
            </a:r>
            <a:endParaRPr lang="en-US" sz="1450" dirty="0"/>
          </a:p>
        </p:txBody>
      </p:sp>
      <p:sp>
        <p:nvSpPr>
          <p:cNvPr id="17" name="Text 15"/>
          <p:cNvSpPr txBox="1"/>
          <p:nvPr/>
        </p:nvSpPr>
        <p:spPr>
          <a:xfrm>
            <a:off x="594360" y="5376672"/>
            <a:ext cx="11002975" cy="320040"/>
          </a:xfrm>
          <a:prstGeom prst="rect">
            <a:avLst/>
          </a:prstGeom>
          <a:noFill/>
          <a:ln/>
        </p:spPr>
        <p:txBody>
          <a:bodyPr wrap="square" lIns="0" tIns="0" rIns="0" bIns="0" rtlCol="0" anchor="ctr"/>
          <a:lstStyle/>
          <a:p>
            <a:pPr indent="0" marL="0">
              <a:buNone/>
            </a:pPr>
            <a:r>
              <a:rPr lang="en-US" sz="1250" i="1" dirty="0">
                <a:solidFill>
                  <a:srgbClr val="5A6B78"/>
                </a:solidFill>
                <a:latin typeface="Calibri" pitchFamily="34" charset="0"/>
                <a:ea typeface="Calibri" pitchFamily="34" charset="-122"/>
                <a:cs typeface="Calibri" pitchFamily="34" charset="-120"/>
              </a:rPr>
              <a:t>Finding real examples of this in the test data is experiment G1.</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94360" y="146304"/>
            <a:ext cx="11002975" cy="274320"/>
          </a:xfrm>
          <a:prstGeom prst="rect">
            <a:avLst/>
          </a:prstGeom>
          <a:noFill/>
          <a:ln/>
        </p:spPr>
        <p:txBody>
          <a:bodyPr wrap="square" lIns="0" tIns="0" rIns="0" bIns="0" rtlCol="0" anchor="ctr"/>
          <a:lstStyle/>
          <a:p>
            <a:pPr indent="0" marL="0">
              <a:buNone/>
            </a:pPr>
            <a:r>
              <a:rPr lang="en-US" sz="1100" b="1" spc="200" kern="0" dirty="0">
                <a:solidFill>
                  <a:srgbClr val="E8833A"/>
                </a:solidFill>
                <a:latin typeface="Calibri" pitchFamily="34" charset="0"/>
                <a:ea typeface="Calibri" pitchFamily="34" charset="-122"/>
                <a:cs typeface="Calibri" pitchFamily="34" charset="-120"/>
              </a:rPr>
              <a:t>THE PLAN</a:t>
            </a:r>
            <a:endParaRPr lang="en-US" sz="1100" dirty="0"/>
          </a:p>
        </p:txBody>
      </p:sp>
      <p:sp>
        <p:nvSpPr>
          <p:cNvPr id="3" name="Text 1"/>
          <p:cNvSpPr txBox="1"/>
          <p:nvPr/>
        </p:nvSpPr>
        <p:spPr>
          <a:xfrm>
            <a:off x="594360" y="384048"/>
            <a:ext cx="11002975" cy="685800"/>
          </a:xfrm>
          <a:prstGeom prst="rect">
            <a:avLst/>
          </a:prstGeom>
          <a:noFill/>
          <a:ln/>
        </p:spPr>
        <p:txBody>
          <a:bodyPr wrap="square" lIns="0" tIns="0" rIns="0" bIns="0" rtlCol="0" anchor="ctr"/>
          <a:lstStyle/>
          <a:p>
            <a:pPr indent="0" marL="0">
              <a:buNone/>
            </a:pPr>
            <a:r>
              <a:rPr lang="en-US" sz="3200" b="1" dirty="0">
                <a:solidFill>
                  <a:srgbClr val="0E5C7A"/>
                </a:solidFill>
                <a:latin typeface="Cambria" pitchFamily="34" charset="0"/>
                <a:ea typeface="Cambria" pitchFamily="34" charset="-122"/>
                <a:cs typeface="Cambria" pitchFamily="34" charset="-120"/>
              </a:rPr>
              <a:t>Nine phases over twenty weeks</a:t>
            </a:r>
            <a:endParaRPr lang="en-US" sz="3200" dirty="0"/>
          </a:p>
        </p:txBody>
      </p:sp>
      <p:sp>
        <p:nvSpPr>
          <p:cNvPr id="4" name="Shape 2"/>
          <p:cNvSpPr/>
          <p:nvPr/>
        </p:nvSpPr>
        <p:spPr>
          <a:xfrm>
            <a:off x="594360" y="1417320"/>
            <a:ext cx="2039661" cy="3291840"/>
          </a:xfrm>
          <a:prstGeom prst="roundRect">
            <a:avLst>
              <a:gd name="adj" fmla="val 4035"/>
            </a:avLst>
          </a:prstGeom>
          <a:solidFill>
            <a:srgbClr val="F4F7F9"/>
          </a:solidFill>
          <a:ln w="12700">
            <a:solidFill>
              <a:srgbClr val="F4F7F9"/>
            </a:solidFill>
            <a:prstDash val="solid"/>
          </a:ln>
        </p:spPr>
      </p:sp>
      <p:sp>
        <p:nvSpPr>
          <p:cNvPr id="5" name="Shape 3"/>
          <p:cNvSpPr/>
          <p:nvPr/>
        </p:nvSpPr>
        <p:spPr>
          <a:xfrm>
            <a:off x="1321582" y="1691640"/>
            <a:ext cx="585216" cy="585216"/>
          </a:xfrm>
          <a:prstGeom prst="ellipse">
            <a:avLst/>
          </a:prstGeom>
          <a:solidFill>
            <a:srgbClr val="0E5C7A"/>
          </a:solidFill>
          <a:ln w="12700">
            <a:solidFill>
              <a:srgbClr val="0E5C7A"/>
            </a:solidFill>
            <a:prstDash val="solid"/>
          </a:ln>
        </p:spPr>
      </p:sp>
      <p:sp>
        <p:nvSpPr>
          <p:cNvPr id="6" name="Text 4"/>
          <p:cNvSpPr txBox="1"/>
          <p:nvPr/>
        </p:nvSpPr>
        <p:spPr>
          <a:xfrm>
            <a:off x="1321582" y="1691640"/>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731520" y="2423160"/>
            <a:ext cx="1765341" cy="548640"/>
          </a:xfrm>
          <a:prstGeom prst="rect">
            <a:avLst/>
          </a:prstGeom>
          <a:noFill/>
          <a:ln/>
        </p:spPr>
        <p:txBody>
          <a:bodyPr wrap="square" lIns="0" tIns="0" rIns="0" bIns="0" rtlCol="0" anchor="t"/>
          <a:lstStyle/>
          <a:p>
            <a:pPr algn="ctr" indent="0" marL="0">
              <a:buNone/>
            </a:pPr>
            <a:r>
              <a:rPr lang="en-US" sz="1500" b="1" dirty="0">
                <a:solidFill>
                  <a:srgbClr val="0E5C7A"/>
                </a:solidFill>
                <a:latin typeface="Cambria" pitchFamily="34" charset="0"/>
                <a:ea typeface="Cambria" pitchFamily="34" charset="-122"/>
                <a:cs typeface="Cambria" pitchFamily="34" charset="-120"/>
              </a:rPr>
              <a:t>Setup &amp; cache</a:t>
            </a:r>
            <a:endParaRPr lang="en-US" sz="1500" dirty="0"/>
          </a:p>
        </p:txBody>
      </p:sp>
      <p:sp>
        <p:nvSpPr>
          <p:cNvPr id="8" name="Text 6"/>
          <p:cNvSpPr txBox="1"/>
          <p:nvPr/>
        </p:nvSpPr>
        <p:spPr>
          <a:xfrm>
            <a:off x="731520" y="2971800"/>
            <a:ext cx="1765341" cy="274320"/>
          </a:xfrm>
          <a:prstGeom prst="rect">
            <a:avLst/>
          </a:prstGeom>
          <a:noFill/>
          <a:ln/>
        </p:spPr>
        <p:txBody>
          <a:bodyPr wrap="square" lIns="0" tIns="0" rIns="0" bIns="0" rtlCol="0" anchor="ctr"/>
          <a:lstStyle/>
          <a:p>
            <a:pPr algn="ctr" indent="0" marL="0">
              <a:buNone/>
            </a:pPr>
            <a:r>
              <a:rPr lang="en-US" sz="1150" b="1" dirty="0">
                <a:solidFill>
                  <a:srgbClr val="5A6B78"/>
                </a:solidFill>
                <a:latin typeface="Calibri" pitchFamily="34" charset="0"/>
                <a:ea typeface="Calibri" pitchFamily="34" charset="-122"/>
                <a:cs typeface="Calibri" pitchFamily="34" charset="-120"/>
              </a:rPr>
              <a:t>Weeks 1–3</a:t>
            </a:r>
            <a:endParaRPr lang="en-US" sz="1150" dirty="0"/>
          </a:p>
        </p:txBody>
      </p:sp>
      <p:sp>
        <p:nvSpPr>
          <p:cNvPr id="9" name="Text 7"/>
          <p:cNvSpPr txBox="1"/>
          <p:nvPr/>
        </p:nvSpPr>
        <p:spPr>
          <a:xfrm>
            <a:off x="777240" y="3310128"/>
            <a:ext cx="1673901" cy="1280160"/>
          </a:xfrm>
          <a:prstGeom prst="rect">
            <a:avLst/>
          </a:prstGeom>
          <a:noFill/>
          <a:ln/>
        </p:spPr>
        <p:txBody>
          <a:bodyPr wrap="square" lIns="0" tIns="0" rIns="0" bIns="0" rtlCol="0" anchor="t"/>
          <a:lstStyle/>
          <a:p>
            <a:pPr algn="ctr" indent="0" marL="0">
              <a:lnSpc>
                <a:spcPts val="1700"/>
              </a:lnSpc>
              <a:buNone/>
            </a:pPr>
            <a:r>
              <a:rPr lang="en-US" sz="1200" dirty="0">
                <a:solidFill>
                  <a:srgbClr val="37474F"/>
                </a:solidFill>
                <a:latin typeface="Calibri" pitchFamily="34" charset="0"/>
                <a:ea typeface="Calibri" pitchFamily="34" charset="-122"/>
                <a:cs typeface="Calibri" pitchFamily="34" charset="-120"/>
              </a:rPr>
              <a:t>Verify datasets, build a 512px cache, patient-grouped splits</a:t>
            </a:r>
            <a:endParaRPr lang="en-US" sz="1200" dirty="0"/>
          </a:p>
        </p:txBody>
      </p:sp>
      <p:sp>
        <p:nvSpPr>
          <p:cNvPr id="10" name="Shape 8"/>
          <p:cNvSpPr/>
          <p:nvPr/>
        </p:nvSpPr>
        <p:spPr>
          <a:xfrm>
            <a:off x="2835189" y="1417320"/>
            <a:ext cx="2039661" cy="3291840"/>
          </a:xfrm>
          <a:prstGeom prst="roundRect">
            <a:avLst>
              <a:gd name="adj" fmla="val 4035"/>
            </a:avLst>
          </a:prstGeom>
          <a:solidFill>
            <a:srgbClr val="F4F7F9"/>
          </a:solidFill>
          <a:ln w="12700">
            <a:solidFill>
              <a:srgbClr val="F4F7F9"/>
            </a:solidFill>
            <a:prstDash val="solid"/>
          </a:ln>
        </p:spPr>
      </p:sp>
      <p:sp>
        <p:nvSpPr>
          <p:cNvPr id="11" name="Shape 9"/>
          <p:cNvSpPr/>
          <p:nvPr/>
        </p:nvSpPr>
        <p:spPr>
          <a:xfrm>
            <a:off x="3562411" y="1691640"/>
            <a:ext cx="585216" cy="585216"/>
          </a:xfrm>
          <a:prstGeom prst="ellipse">
            <a:avLst/>
          </a:prstGeom>
          <a:solidFill>
            <a:srgbClr val="0E5C7A"/>
          </a:solidFill>
          <a:ln w="12700">
            <a:solidFill>
              <a:srgbClr val="0E5C7A"/>
            </a:solidFill>
            <a:prstDash val="solid"/>
          </a:ln>
        </p:spPr>
      </p:sp>
      <p:sp>
        <p:nvSpPr>
          <p:cNvPr id="12" name="Text 10"/>
          <p:cNvSpPr txBox="1"/>
          <p:nvPr/>
        </p:nvSpPr>
        <p:spPr>
          <a:xfrm>
            <a:off x="3562411" y="1691640"/>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3" name="Text 11"/>
          <p:cNvSpPr txBox="1"/>
          <p:nvPr/>
        </p:nvSpPr>
        <p:spPr>
          <a:xfrm>
            <a:off x="2972349" y="2423160"/>
            <a:ext cx="1765341" cy="548640"/>
          </a:xfrm>
          <a:prstGeom prst="rect">
            <a:avLst/>
          </a:prstGeom>
          <a:noFill/>
          <a:ln/>
        </p:spPr>
        <p:txBody>
          <a:bodyPr wrap="square" lIns="0" tIns="0" rIns="0" bIns="0" rtlCol="0" anchor="t"/>
          <a:lstStyle/>
          <a:p>
            <a:pPr algn="ctr" indent="0" marL="0">
              <a:buNone/>
            </a:pPr>
            <a:r>
              <a:rPr lang="en-US" sz="1500" b="1" dirty="0">
                <a:solidFill>
                  <a:srgbClr val="0E5C7A"/>
                </a:solidFill>
                <a:latin typeface="Cambria" pitchFamily="34" charset="0"/>
                <a:ea typeface="Cambria" pitchFamily="34" charset="-122"/>
                <a:cs typeface="Cambria" pitchFamily="34" charset="-120"/>
              </a:rPr>
              <a:t>Grading pathway</a:t>
            </a:r>
            <a:endParaRPr lang="en-US" sz="1500" dirty="0"/>
          </a:p>
        </p:txBody>
      </p:sp>
      <p:sp>
        <p:nvSpPr>
          <p:cNvPr id="14" name="Text 12"/>
          <p:cNvSpPr txBox="1"/>
          <p:nvPr/>
        </p:nvSpPr>
        <p:spPr>
          <a:xfrm>
            <a:off x="2972349" y="2971800"/>
            <a:ext cx="1765341" cy="274320"/>
          </a:xfrm>
          <a:prstGeom prst="rect">
            <a:avLst/>
          </a:prstGeom>
          <a:noFill/>
          <a:ln/>
        </p:spPr>
        <p:txBody>
          <a:bodyPr wrap="square" lIns="0" tIns="0" rIns="0" bIns="0" rtlCol="0" anchor="ctr"/>
          <a:lstStyle/>
          <a:p>
            <a:pPr algn="ctr" indent="0" marL="0">
              <a:buNone/>
            </a:pPr>
            <a:r>
              <a:rPr lang="en-US" sz="1150" b="1" dirty="0">
                <a:solidFill>
                  <a:srgbClr val="5A6B78"/>
                </a:solidFill>
                <a:latin typeface="Calibri" pitchFamily="34" charset="0"/>
                <a:ea typeface="Calibri" pitchFamily="34" charset="-122"/>
                <a:cs typeface="Calibri" pitchFamily="34" charset="-120"/>
              </a:rPr>
              <a:t>Weeks 4–7</a:t>
            </a:r>
            <a:endParaRPr lang="en-US" sz="1150" dirty="0"/>
          </a:p>
        </p:txBody>
      </p:sp>
      <p:sp>
        <p:nvSpPr>
          <p:cNvPr id="15" name="Text 13"/>
          <p:cNvSpPr txBox="1"/>
          <p:nvPr/>
        </p:nvSpPr>
        <p:spPr>
          <a:xfrm>
            <a:off x="3018069" y="3310128"/>
            <a:ext cx="1673901" cy="1280160"/>
          </a:xfrm>
          <a:prstGeom prst="rect">
            <a:avLst/>
          </a:prstGeom>
          <a:noFill/>
          <a:ln/>
        </p:spPr>
        <p:txBody>
          <a:bodyPr wrap="square" lIns="0" tIns="0" rIns="0" bIns="0" rtlCol="0" anchor="t"/>
          <a:lstStyle/>
          <a:p>
            <a:pPr algn="ctr" indent="0" marL="0">
              <a:lnSpc>
                <a:spcPts val="1700"/>
              </a:lnSpc>
              <a:buNone/>
            </a:pPr>
            <a:r>
              <a:rPr lang="en-US" sz="1200" dirty="0">
                <a:solidFill>
                  <a:srgbClr val="37474F"/>
                </a:solidFill>
                <a:latin typeface="Calibri" pitchFamily="34" charset="0"/>
                <a:ea typeface="Calibri" pitchFamily="34" charset="-122"/>
                <a:cs typeface="Calibri" pitchFamily="34" charset="-120"/>
              </a:rPr>
              <a:t>Choose resolution, backbone, head, sampler — validation only</a:t>
            </a:r>
            <a:endParaRPr lang="en-US" sz="1200" dirty="0"/>
          </a:p>
        </p:txBody>
      </p:sp>
      <p:sp>
        <p:nvSpPr>
          <p:cNvPr id="16" name="Shape 14"/>
          <p:cNvSpPr/>
          <p:nvPr/>
        </p:nvSpPr>
        <p:spPr>
          <a:xfrm>
            <a:off x="5076017" y="1417320"/>
            <a:ext cx="2039661" cy="3291840"/>
          </a:xfrm>
          <a:prstGeom prst="roundRect">
            <a:avLst>
              <a:gd name="adj" fmla="val 4035"/>
            </a:avLst>
          </a:prstGeom>
          <a:solidFill>
            <a:srgbClr val="F4F7F9"/>
          </a:solidFill>
          <a:ln w="12700">
            <a:solidFill>
              <a:srgbClr val="F4F7F9"/>
            </a:solidFill>
            <a:prstDash val="solid"/>
          </a:ln>
        </p:spPr>
      </p:sp>
      <p:sp>
        <p:nvSpPr>
          <p:cNvPr id="17" name="Shape 15"/>
          <p:cNvSpPr/>
          <p:nvPr/>
        </p:nvSpPr>
        <p:spPr>
          <a:xfrm>
            <a:off x="5803240" y="1691640"/>
            <a:ext cx="585216" cy="585216"/>
          </a:xfrm>
          <a:prstGeom prst="ellipse">
            <a:avLst/>
          </a:prstGeom>
          <a:solidFill>
            <a:srgbClr val="0E5C7A"/>
          </a:solidFill>
          <a:ln w="12700">
            <a:solidFill>
              <a:srgbClr val="0E5C7A"/>
            </a:solidFill>
            <a:prstDash val="solid"/>
          </a:ln>
        </p:spPr>
      </p:sp>
      <p:sp>
        <p:nvSpPr>
          <p:cNvPr id="18" name="Text 16"/>
          <p:cNvSpPr txBox="1"/>
          <p:nvPr/>
        </p:nvSpPr>
        <p:spPr>
          <a:xfrm>
            <a:off x="5803240" y="1691640"/>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9" name="Text 17"/>
          <p:cNvSpPr txBox="1"/>
          <p:nvPr/>
        </p:nvSpPr>
        <p:spPr>
          <a:xfrm>
            <a:off x="5213177" y="2423160"/>
            <a:ext cx="1765341" cy="548640"/>
          </a:xfrm>
          <a:prstGeom prst="rect">
            <a:avLst/>
          </a:prstGeom>
          <a:noFill/>
          <a:ln/>
        </p:spPr>
        <p:txBody>
          <a:bodyPr wrap="square" lIns="0" tIns="0" rIns="0" bIns="0" rtlCol="0" anchor="t"/>
          <a:lstStyle/>
          <a:p>
            <a:pPr algn="ctr" indent="0" marL="0">
              <a:buNone/>
            </a:pPr>
            <a:r>
              <a:rPr lang="en-US" sz="1500" b="1" dirty="0">
                <a:solidFill>
                  <a:srgbClr val="0E5C7A"/>
                </a:solidFill>
                <a:latin typeface="Cambria" pitchFamily="34" charset="0"/>
                <a:ea typeface="Cambria" pitchFamily="34" charset="-122"/>
                <a:cs typeface="Cambria" pitchFamily="34" charset="-120"/>
              </a:rPr>
              <a:t>Evidence pathway</a:t>
            </a:r>
            <a:endParaRPr lang="en-US" sz="1500" dirty="0"/>
          </a:p>
        </p:txBody>
      </p:sp>
      <p:sp>
        <p:nvSpPr>
          <p:cNvPr id="20" name="Text 18"/>
          <p:cNvSpPr txBox="1"/>
          <p:nvPr/>
        </p:nvSpPr>
        <p:spPr>
          <a:xfrm>
            <a:off x="5213177" y="2971800"/>
            <a:ext cx="1765341" cy="274320"/>
          </a:xfrm>
          <a:prstGeom prst="rect">
            <a:avLst/>
          </a:prstGeom>
          <a:noFill/>
          <a:ln/>
        </p:spPr>
        <p:txBody>
          <a:bodyPr wrap="square" lIns="0" tIns="0" rIns="0" bIns="0" rtlCol="0" anchor="ctr"/>
          <a:lstStyle/>
          <a:p>
            <a:pPr algn="ctr" indent="0" marL="0">
              <a:buNone/>
            </a:pPr>
            <a:r>
              <a:rPr lang="en-US" sz="1150" b="1" dirty="0">
                <a:solidFill>
                  <a:srgbClr val="5A6B78"/>
                </a:solidFill>
                <a:latin typeface="Calibri" pitchFamily="34" charset="0"/>
                <a:ea typeface="Calibri" pitchFamily="34" charset="-122"/>
                <a:cs typeface="Calibri" pitchFamily="34" charset="-120"/>
              </a:rPr>
              <a:t>Weeks 6–9</a:t>
            </a:r>
            <a:endParaRPr lang="en-US" sz="1150" dirty="0"/>
          </a:p>
        </p:txBody>
      </p:sp>
      <p:sp>
        <p:nvSpPr>
          <p:cNvPr id="21" name="Text 19"/>
          <p:cNvSpPr txBox="1"/>
          <p:nvPr/>
        </p:nvSpPr>
        <p:spPr>
          <a:xfrm>
            <a:off x="5258897" y="3310128"/>
            <a:ext cx="1673901" cy="1280160"/>
          </a:xfrm>
          <a:prstGeom prst="rect">
            <a:avLst/>
          </a:prstGeom>
          <a:noFill/>
          <a:ln/>
        </p:spPr>
        <p:txBody>
          <a:bodyPr wrap="square" lIns="0" tIns="0" rIns="0" bIns="0" rtlCol="0" anchor="t"/>
          <a:lstStyle/>
          <a:p>
            <a:pPr algn="ctr" indent="0" marL="0">
              <a:lnSpc>
                <a:spcPts val="1700"/>
              </a:lnSpc>
              <a:buNone/>
            </a:pPr>
            <a:r>
              <a:rPr lang="en-US" sz="1200" dirty="0">
                <a:solidFill>
                  <a:srgbClr val="37474F"/>
                </a:solidFill>
                <a:latin typeface="Calibri" pitchFamily="34" charset="0"/>
                <a:ea typeface="Calibri" pitchFamily="34" charset="-122"/>
                <a:cs typeface="Calibri" pitchFamily="34" charset="-120"/>
              </a:rPr>
              <a:t>Lesion segmenter, disc/fovea geometry, the ICDR reasoner</a:t>
            </a:r>
            <a:endParaRPr lang="en-US" sz="1200" dirty="0"/>
          </a:p>
        </p:txBody>
      </p:sp>
      <p:sp>
        <p:nvSpPr>
          <p:cNvPr id="22" name="Shape 20"/>
          <p:cNvSpPr/>
          <p:nvPr/>
        </p:nvSpPr>
        <p:spPr>
          <a:xfrm>
            <a:off x="7316846" y="1417320"/>
            <a:ext cx="2039661" cy="3291840"/>
          </a:xfrm>
          <a:prstGeom prst="roundRect">
            <a:avLst>
              <a:gd name="adj" fmla="val 4035"/>
            </a:avLst>
          </a:prstGeom>
          <a:solidFill>
            <a:srgbClr val="FDF0E4"/>
          </a:solidFill>
          <a:ln w="12700">
            <a:solidFill>
              <a:srgbClr val="FDF0E4"/>
            </a:solidFill>
            <a:prstDash val="solid"/>
          </a:ln>
        </p:spPr>
      </p:sp>
      <p:sp>
        <p:nvSpPr>
          <p:cNvPr id="23" name="Shape 21"/>
          <p:cNvSpPr/>
          <p:nvPr/>
        </p:nvSpPr>
        <p:spPr>
          <a:xfrm>
            <a:off x="8044068" y="1691640"/>
            <a:ext cx="585216" cy="585216"/>
          </a:xfrm>
          <a:prstGeom prst="ellipse">
            <a:avLst/>
          </a:prstGeom>
          <a:solidFill>
            <a:srgbClr val="E8833A"/>
          </a:solidFill>
          <a:ln w="12700">
            <a:solidFill>
              <a:srgbClr val="E8833A"/>
            </a:solidFill>
            <a:prstDash val="solid"/>
          </a:ln>
        </p:spPr>
      </p:sp>
      <p:sp>
        <p:nvSpPr>
          <p:cNvPr id="24" name="Text 22"/>
          <p:cNvSpPr txBox="1"/>
          <p:nvPr/>
        </p:nvSpPr>
        <p:spPr>
          <a:xfrm>
            <a:off x="8044068" y="1691640"/>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5" name="Text 23"/>
          <p:cNvSpPr txBox="1"/>
          <p:nvPr/>
        </p:nvSpPr>
        <p:spPr>
          <a:xfrm>
            <a:off x="7454006" y="2423160"/>
            <a:ext cx="1765341" cy="548640"/>
          </a:xfrm>
          <a:prstGeom prst="rect">
            <a:avLst/>
          </a:prstGeom>
          <a:noFill/>
          <a:ln/>
        </p:spPr>
        <p:txBody>
          <a:bodyPr wrap="square" lIns="0" tIns="0" rIns="0" bIns="0" rtlCol="0" anchor="t"/>
          <a:lstStyle/>
          <a:p>
            <a:pPr algn="ctr" indent="0" marL="0">
              <a:buNone/>
            </a:pPr>
            <a:r>
              <a:rPr lang="en-US" sz="1500" b="1" dirty="0">
                <a:solidFill>
                  <a:srgbClr val="E8833A"/>
                </a:solidFill>
                <a:latin typeface="Cambria" pitchFamily="34" charset="0"/>
                <a:ea typeface="Cambria" pitchFamily="34" charset="-122"/>
                <a:cs typeface="Cambria" pitchFamily="34" charset="-120"/>
              </a:rPr>
              <a:t>FREEZE &amp; unblind</a:t>
            </a:r>
            <a:endParaRPr lang="en-US" sz="1500" dirty="0"/>
          </a:p>
        </p:txBody>
      </p:sp>
      <p:sp>
        <p:nvSpPr>
          <p:cNvPr id="26" name="Text 24"/>
          <p:cNvSpPr txBox="1"/>
          <p:nvPr/>
        </p:nvSpPr>
        <p:spPr>
          <a:xfrm>
            <a:off x="7454006" y="2971800"/>
            <a:ext cx="1765341" cy="274320"/>
          </a:xfrm>
          <a:prstGeom prst="rect">
            <a:avLst/>
          </a:prstGeom>
          <a:noFill/>
          <a:ln/>
        </p:spPr>
        <p:txBody>
          <a:bodyPr wrap="square" lIns="0" tIns="0" rIns="0" bIns="0" rtlCol="0" anchor="ctr"/>
          <a:lstStyle/>
          <a:p>
            <a:pPr algn="ctr" indent="0" marL="0">
              <a:buNone/>
            </a:pPr>
            <a:r>
              <a:rPr lang="en-US" sz="1150" b="1" dirty="0">
                <a:solidFill>
                  <a:srgbClr val="5A6B78"/>
                </a:solidFill>
                <a:latin typeface="Calibri" pitchFamily="34" charset="0"/>
                <a:ea typeface="Calibri" pitchFamily="34" charset="-122"/>
                <a:cs typeface="Calibri" pitchFamily="34" charset="-120"/>
              </a:rPr>
              <a:t>Weeks 10–12</a:t>
            </a:r>
            <a:endParaRPr lang="en-US" sz="1150" dirty="0"/>
          </a:p>
        </p:txBody>
      </p:sp>
      <p:sp>
        <p:nvSpPr>
          <p:cNvPr id="27" name="Text 25"/>
          <p:cNvSpPr txBox="1"/>
          <p:nvPr/>
        </p:nvSpPr>
        <p:spPr>
          <a:xfrm>
            <a:off x="7499726" y="3310128"/>
            <a:ext cx="1673901" cy="1280160"/>
          </a:xfrm>
          <a:prstGeom prst="rect">
            <a:avLst/>
          </a:prstGeom>
          <a:noFill/>
          <a:ln/>
        </p:spPr>
        <p:txBody>
          <a:bodyPr wrap="square" lIns="0" tIns="0" rIns="0" bIns="0" rtlCol="0" anchor="t"/>
          <a:lstStyle/>
          <a:p>
            <a:pPr algn="ctr" indent="0" marL="0">
              <a:lnSpc>
                <a:spcPts val="1700"/>
              </a:lnSpc>
              <a:buNone/>
            </a:pPr>
            <a:r>
              <a:rPr lang="en-US" sz="1200" dirty="0">
                <a:solidFill>
                  <a:srgbClr val="37474F"/>
                </a:solidFill>
                <a:latin typeface="Calibri" pitchFamily="34" charset="0"/>
                <a:ea typeface="Calibri" pitchFamily="34" charset="-122"/>
                <a:cs typeface="Calibri" pitchFamily="34" charset="-120"/>
              </a:rPr>
              <a:t>Pre-register, then touch the external datasets exactly once</a:t>
            </a:r>
            <a:endParaRPr lang="en-US" sz="1200" dirty="0"/>
          </a:p>
        </p:txBody>
      </p:sp>
      <p:sp>
        <p:nvSpPr>
          <p:cNvPr id="28" name="Shape 26"/>
          <p:cNvSpPr/>
          <p:nvPr/>
        </p:nvSpPr>
        <p:spPr>
          <a:xfrm>
            <a:off x="9557675" y="1417320"/>
            <a:ext cx="2039661" cy="3291840"/>
          </a:xfrm>
          <a:prstGeom prst="roundRect">
            <a:avLst>
              <a:gd name="adj" fmla="val 4035"/>
            </a:avLst>
          </a:prstGeom>
          <a:solidFill>
            <a:srgbClr val="F4F7F9"/>
          </a:solidFill>
          <a:ln w="12700">
            <a:solidFill>
              <a:srgbClr val="F4F7F9"/>
            </a:solidFill>
            <a:prstDash val="solid"/>
          </a:ln>
        </p:spPr>
      </p:sp>
      <p:sp>
        <p:nvSpPr>
          <p:cNvPr id="29" name="Shape 27"/>
          <p:cNvSpPr/>
          <p:nvPr/>
        </p:nvSpPr>
        <p:spPr>
          <a:xfrm>
            <a:off x="10284897" y="1691640"/>
            <a:ext cx="585216" cy="585216"/>
          </a:xfrm>
          <a:prstGeom prst="ellipse">
            <a:avLst/>
          </a:prstGeom>
          <a:solidFill>
            <a:srgbClr val="0E5C7A"/>
          </a:solidFill>
          <a:ln w="12700">
            <a:solidFill>
              <a:srgbClr val="0E5C7A"/>
            </a:solidFill>
            <a:prstDash val="solid"/>
          </a:ln>
        </p:spPr>
      </p:sp>
      <p:sp>
        <p:nvSpPr>
          <p:cNvPr id="30" name="Text 28"/>
          <p:cNvSpPr txBox="1"/>
          <p:nvPr/>
        </p:nvSpPr>
        <p:spPr>
          <a:xfrm>
            <a:off x="10284897" y="1691640"/>
            <a:ext cx="585216" cy="58521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31" name="Text 29"/>
          <p:cNvSpPr txBox="1"/>
          <p:nvPr/>
        </p:nvSpPr>
        <p:spPr>
          <a:xfrm>
            <a:off x="9694835" y="2423160"/>
            <a:ext cx="1765341" cy="548640"/>
          </a:xfrm>
          <a:prstGeom prst="rect">
            <a:avLst/>
          </a:prstGeom>
          <a:noFill/>
          <a:ln/>
        </p:spPr>
        <p:txBody>
          <a:bodyPr wrap="square" lIns="0" tIns="0" rIns="0" bIns="0" rtlCol="0" anchor="t"/>
          <a:lstStyle/>
          <a:p>
            <a:pPr algn="ctr" indent="0" marL="0">
              <a:buNone/>
            </a:pPr>
            <a:r>
              <a:rPr lang="en-US" sz="1500" b="1" dirty="0">
                <a:solidFill>
                  <a:srgbClr val="0E5C7A"/>
                </a:solidFill>
                <a:latin typeface="Cambria" pitchFamily="34" charset="0"/>
                <a:ea typeface="Cambria" pitchFamily="34" charset="-122"/>
                <a:cs typeface="Cambria" pitchFamily="34" charset="-120"/>
              </a:rPr>
              <a:t>Results &amp; write-up</a:t>
            </a:r>
            <a:endParaRPr lang="en-US" sz="1500" dirty="0"/>
          </a:p>
        </p:txBody>
      </p:sp>
      <p:sp>
        <p:nvSpPr>
          <p:cNvPr id="32" name="Text 30"/>
          <p:cNvSpPr txBox="1"/>
          <p:nvPr/>
        </p:nvSpPr>
        <p:spPr>
          <a:xfrm>
            <a:off x="9694835" y="2971800"/>
            <a:ext cx="1765341" cy="274320"/>
          </a:xfrm>
          <a:prstGeom prst="rect">
            <a:avLst/>
          </a:prstGeom>
          <a:noFill/>
          <a:ln/>
        </p:spPr>
        <p:txBody>
          <a:bodyPr wrap="square" lIns="0" tIns="0" rIns="0" bIns="0" rtlCol="0" anchor="ctr"/>
          <a:lstStyle/>
          <a:p>
            <a:pPr algn="ctr" indent="0" marL="0">
              <a:buNone/>
            </a:pPr>
            <a:r>
              <a:rPr lang="en-US" sz="1150" b="1" dirty="0">
                <a:solidFill>
                  <a:srgbClr val="5A6B78"/>
                </a:solidFill>
                <a:latin typeface="Calibri" pitchFamily="34" charset="0"/>
                <a:ea typeface="Calibri" pitchFamily="34" charset="-122"/>
                <a:cs typeface="Calibri" pitchFamily="34" charset="-120"/>
              </a:rPr>
              <a:t>Weeks 12–20</a:t>
            </a:r>
            <a:endParaRPr lang="en-US" sz="1150" dirty="0"/>
          </a:p>
        </p:txBody>
      </p:sp>
      <p:sp>
        <p:nvSpPr>
          <p:cNvPr id="33" name="Text 31"/>
          <p:cNvSpPr txBox="1"/>
          <p:nvPr/>
        </p:nvSpPr>
        <p:spPr>
          <a:xfrm>
            <a:off x="9740555" y="3310128"/>
            <a:ext cx="1673901" cy="1280160"/>
          </a:xfrm>
          <a:prstGeom prst="rect">
            <a:avLst/>
          </a:prstGeom>
          <a:noFill/>
          <a:ln/>
        </p:spPr>
        <p:txBody>
          <a:bodyPr wrap="square" lIns="0" tIns="0" rIns="0" bIns="0" rtlCol="0" anchor="t"/>
          <a:lstStyle/>
          <a:p>
            <a:pPr algn="ctr" indent="0" marL="0">
              <a:lnSpc>
                <a:spcPts val="1700"/>
              </a:lnSpc>
              <a:buNone/>
            </a:pPr>
            <a:r>
              <a:rPr lang="en-US" sz="1200" dirty="0">
                <a:solidFill>
                  <a:srgbClr val="37474F"/>
                </a:solidFill>
                <a:latin typeface="Calibri" pitchFamily="34" charset="0"/>
                <a:ea typeface="Calibri" pitchFamily="34" charset="-122"/>
                <a:cs typeface="Calibri" pitchFamily="34" charset="-120"/>
              </a:rPr>
              <a:t>Calibration, triage experiments, error analysis, thesis</a:t>
            </a:r>
            <a:endParaRPr lang="en-US" sz="1200" dirty="0"/>
          </a:p>
        </p:txBody>
      </p:sp>
      <p:sp>
        <p:nvSpPr>
          <p:cNvPr id="34" name="Shape 32"/>
          <p:cNvSpPr/>
          <p:nvPr/>
        </p:nvSpPr>
        <p:spPr>
          <a:xfrm>
            <a:off x="594360" y="4956048"/>
            <a:ext cx="11002975" cy="713232"/>
          </a:xfrm>
          <a:prstGeom prst="roundRect">
            <a:avLst>
              <a:gd name="adj" fmla="val 10256"/>
            </a:avLst>
          </a:prstGeom>
          <a:solidFill>
            <a:srgbClr val="10243B"/>
          </a:solidFill>
          <a:ln w="12700">
            <a:solidFill>
              <a:srgbClr val="10243B"/>
            </a:solidFill>
            <a:prstDash val="solid"/>
          </a:ln>
        </p:spPr>
      </p:sp>
      <p:sp>
        <p:nvSpPr>
          <p:cNvPr id="35" name="Text 33"/>
          <p:cNvSpPr txBox="1"/>
          <p:nvPr/>
        </p:nvSpPr>
        <p:spPr>
          <a:xfrm>
            <a:off x="1005840" y="4956048"/>
            <a:ext cx="10180015" cy="713232"/>
          </a:xfrm>
          <a:prstGeom prst="rect">
            <a:avLst/>
          </a:prstGeom>
          <a:noFill/>
          <a:ln/>
        </p:spPr>
        <p:txBody>
          <a:bodyPr wrap="square" lIns="0" tIns="0" rIns="0" bIns="0" rtlCol="0" anchor="ctr"/>
          <a:lstStyle/>
          <a:p>
            <a:pPr indent="0" marL="0">
              <a:buNone/>
            </a:pPr>
            <a:r>
              <a:rPr lang="en-US" sz="1350" dirty="0">
                <a:solidFill>
                  <a:srgbClr val="A8C5D6"/>
                </a:solidFill>
                <a:latin typeface="Calibri" pitchFamily="34" charset="0"/>
                <a:ea typeface="Calibri" pitchFamily="34" charset="-122"/>
                <a:cs typeface="Calibri" pitchFamily="34" charset="-120"/>
              </a:rPr>
              <a:t>Phase 4 is the point of no return — after the freeze, nothing about the model changes. That is what makes a negative result publishable.</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94360" y="146304"/>
            <a:ext cx="11002975" cy="274320"/>
          </a:xfrm>
          <a:prstGeom prst="rect">
            <a:avLst/>
          </a:prstGeom>
          <a:noFill/>
          <a:ln/>
        </p:spPr>
        <p:txBody>
          <a:bodyPr wrap="square" lIns="0" tIns="0" rIns="0" bIns="0" rtlCol="0" anchor="ctr"/>
          <a:lstStyle/>
          <a:p>
            <a:pPr indent="0" marL="0">
              <a:buNone/>
            </a:pPr>
            <a:r>
              <a:rPr lang="en-US" sz="1100" b="1" spc="200" kern="0" dirty="0">
                <a:solidFill>
                  <a:srgbClr val="E8833A"/>
                </a:solidFill>
                <a:latin typeface="Calibri" pitchFamily="34" charset="0"/>
                <a:ea typeface="Calibri" pitchFamily="34" charset="-122"/>
                <a:cs typeface="Calibri" pitchFamily="34" charset="-120"/>
              </a:rPr>
              <a:t>THE WORK</a:t>
            </a:r>
            <a:endParaRPr lang="en-US" sz="1100" dirty="0"/>
          </a:p>
        </p:txBody>
      </p:sp>
      <p:sp>
        <p:nvSpPr>
          <p:cNvPr id="3" name="Text 1"/>
          <p:cNvSpPr txBox="1"/>
          <p:nvPr/>
        </p:nvSpPr>
        <p:spPr>
          <a:xfrm>
            <a:off x="594360" y="384048"/>
            <a:ext cx="11002975" cy="685800"/>
          </a:xfrm>
          <a:prstGeom prst="rect">
            <a:avLst/>
          </a:prstGeom>
          <a:noFill/>
          <a:ln/>
        </p:spPr>
        <p:txBody>
          <a:bodyPr wrap="square" lIns="0" tIns="0" rIns="0" bIns="0" rtlCol="0" anchor="ctr"/>
          <a:lstStyle/>
          <a:p>
            <a:pPr indent="0" marL="0">
              <a:buNone/>
            </a:pPr>
            <a:r>
              <a:rPr lang="en-US" sz="3200" b="1" dirty="0">
                <a:solidFill>
                  <a:srgbClr val="0E5C7A"/>
                </a:solidFill>
                <a:latin typeface="Cambria" pitchFamily="34" charset="0"/>
                <a:ea typeface="Cambria" pitchFamily="34" charset="-122"/>
                <a:cs typeface="Cambria" pitchFamily="34" charset="-120"/>
              </a:rPr>
              <a:t>Twenty-six experiments across eight stages</a:t>
            </a:r>
            <a:endParaRPr lang="en-US" sz="3200" dirty="0"/>
          </a:p>
        </p:txBody>
      </p:sp>
      <p:sp>
        <p:nvSpPr>
          <p:cNvPr id="4" name="Shape 2"/>
          <p:cNvSpPr/>
          <p:nvPr/>
        </p:nvSpPr>
        <p:spPr>
          <a:xfrm>
            <a:off x="594360" y="1371600"/>
            <a:ext cx="2613584" cy="841248"/>
          </a:xfrm>
          <a:prstGeom prst="roundRect">
            <a:avLst>
              <a:gd name="adj" fmla="val 9783"/>
            </a:avLst>
          </a:prstGeom>
          <a:solidFill>
            <a:srgbClr val="F4F7F9"/>
          </a:solidFill>
          <a:ln w="12700">
            <a:solidFill>
              <a:srgbClr val="F4F7F9"/>
            </a:solidFill>
            <a:prstDash val="solid"/>
          </a:ln>
        </p:spPr>
      </p:sp>
      <p:sp>
        <p:nvSpPr>
          <p:cNvPr id="5" name="Shape 3"/>
          <p:cNvSpPr/>
          <p:nvPr/>
        </p:nvSpPr>
        <p:spPr>
          <a:xfrm>
            <a:off x="758952" y="1545336"/>
            <a:ext cx="493776" cy="493776"/>
          </a:xfrm>
          <a:prstGeom prst="ellipse">
            <a:avLst/>
          </a:prstGeom>
          <a:solidFill>
            <a:srgbClr val="0E5C7A"/>
          </a:solidFill>
          <a:ln w="12700">
            <a:solidFill>
              <a:srgbClr val="0E5C7A"/>
            </a:solidFill>
            <a:prstDash val="solid"/>
          </a:ln>
        </p:spPr>
      </p:sp>
      <p:sp>
        <p:nvSpPr>
          <p:cNvPr id="6" name="Text 4"/>
          <p:cNvSpPr txBox="1"/>
          <p:nvPr/>
        </p:nvSpPr>
        <p:spPr>
          <a:xfrm>
            <a:off x="758952" y="1545336"/>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A</a:t>
            </a:r>
            <a:endParaRPr lang="en-US" sz="1700" dirty="0"/>
          </a:p>
        </p:txBody>
      </p:sp>
      <p:sp>
        <p:nvSpPr>
          <p:cNvPr id="7" name="Text 5"/>
          <p:cNvSpPr txBox="1"/>
          <p:nvPr/>
        </p:nvSpPr>
        <p:spPr>
          <a:xfrm>
            <a:off x="1371600" y="1499616"/>
            <a:ext cx="1699184" cy="310896"/>
          </a:xfrm>
          <a:prstGeom prst="rect">
            <a:avLst/>
          </a:prstGeom>
          <a:noFill/>
          <a:ln/>
        </p:spPr>
        <p:txBody>
          <a:bodyPr wrap="square" lIns="0" tIns="0" rIns="0" bIns="0" rtlCol="0" anchor="ctr"/>
          <a:lstStyle/>
          <a:p>
            <a:pPr indent="0" marL="0">
              <a:buNone/>
            </a:pPr>
            <a:r>
              <a:rPr lang="en-US" sz="1350" b="1" dirty="0">
                <a:solidFill>
                  <a:srgbClr val="24313D"/>
                </a:solidFill>
                <a:latin typeface="Cambria" pitchFamily="34" charset="0"/>
                <a:ea typeface="Cambria" pitchFamily="34" charset="-122"/>
                <a:cs typeface="Cambria" pitchFamily="34" charset="-120"/>
              </a:rPr>
              <a:t>Infrastructure</a:t>
            </a:r>
            <a:endParaRPr lang="en-US" sz="1350" dirty="0"/>
          </a:p>
        </p:txBody>
      </p:sp>
      <p:sp>
        <p:nvSpPr>
          <p:cNvPr id="8" name="Text 6"/>
          <p:cNvSpPr txBox="1"/>
          <p:nvPr/>
        </p:nvSpPr>
        <p:spPr>
          <a:xfrm>
            <a:off x="1371600" y="1810512"/>
            <a:ext cx="1699184" cy="256032"/>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2 experiments</a:t>
            </a:r>
            <a:endParaRPr lang="en-US" sz="1100" dirty="0"/>
          </a:p>
        </p:txBody>
      </p:sp>
      <p:sp>
        <p:nvSpPr>
          <p:cNvPr id="9" name="Shape 7"/>
          <p:cNvSpPr/>
          <p:nvPr/>
        </p:nvSpPr>
        <p:spPr>
          <a:xfrm>
            <a:off x="3390824" y="1371600"/>
            <a:ext cx="2613584" cy="841248"/>
          </a:xfrm>
          <a:prstGeom prst="roundRect">
            <a:avLst>
              <a:gd name="adj" fmla="val 9783"/>
            </a:avLst>
          </a:prstGeom>
          <a:solidFill>
            <a:srgbClr val="F4F7F9"/>
          </a:solidFill>
          <a:ln w="12700">
            <a:solidFill>
              <a:srgbClr val="F4F7F9"/>
            </a:solidFill>
            <a:prstDash val="solid"/>
          </a:ln>
        </p:spPr>
      </p:sp>
      <p:sp>
        <p:nvSpPr>
          <p:cNvPr id="10" name="Shape 8"/>
          <p:cNvSpPr/>
          <p:nvPr/>
        </p:nvSpPr>
        <p:spPr>
          <a:xfrm>
            <a:off x="3555416" y="1545336"/>
            <a:ext cx="493776" cy="493776"/>
          </a:xfrm>
          <a:prstGeom prst="ellipse">
            <a:avLst/>
          </a:prstGeom>
          <a:solidFill>
            <a:srgbClr val="0E5C7A"/>
          </a:solidFill>
          <a:ln w="12700">
            <a:solidFill>
              <a:srgbClr val="0E5C7A"/>
            </a:solidFill>
            <a:prstDash val="solid"/>
          </a:ln>
        </p:spPr>
      </p:sp>
      <p:sp>
        <p:nvSpPr>
          <p:cNvPr id="11" name="Text 9"/>
          <p:cNvSpPr txBox="1"/>
          <p:nvPr/>
        </p:nvSpPr>
        <p:spPr>
          <a:xfrm>
            <a:off x="3555416" y="1545336"/>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B</a:t>
            </a:r>
            <a:endParaRPr lang="en-US" sz="1700" dirty="0"/>
          </a:p>
        </p:txBody>
      </p:sp>
      <p:sp>
        <p:nvSpPr>
          <p:cNvPr id="12" name="Text 10"/>
          <p:cNvSpPr txBox="1"/>
          <p:nvPr/>
        </p:nvSpPr>
        <p:spPr>
          <a:xfrm>
            <a:off x="4168064" y="1499616"/>
            <a:ext cx="1699184" cy="310896"/>
          </a:xfrm>
          <a:prstGeom prst="rect">
            <a:avLst/>
          </a:prstGeom>
          <a:noFill/>
          <a:ln/>
        </p:spPr>
        <p:txBody>
          <a:bodyPr wrap="square" lIns="0" tIns="0" rIns="0" bIns="0" rtlCol="0" anchor="ctr"/>
          <a:lstStyle/>
          <a:p>
            <a:pPr indent="0" marL="0">
              <a:buNone/>
            </a:pPr>
            <a:r>
              <a:rPr lang="en-US" sz="1350" b="1" dirty="0">
                <a:solidFill>
                  <a:srgbClr val="24313D"/>
                </a:solidFill>
                <a:latin typeface="Cambria" pitchFamily="34" charset="0"/>
                <a:ea typeface="Cambria" pitchFamily="34" charset="-122"/>
                <a:cs typeface="Cambria" pitchFamily="34" charset="-120"/>
              </a:rPr>
              <a:t>Grading pathway</a:t>
            </a:r>
            <a:endParaRPr lang="en-US" sz="1350" dirty="0"/>
          </a:p>
        </p:txBody>
      </p:sp>
      <p:sp>
        <p:nvSpPr>
          <p:cNvPr id="13" name="Text 11"/>
          <p:cNvSpPr txBox="1"/>
          <p:nvPr/>
        </p:nvSpPr>
        <p:spPr>
          <a:xfrm>
            <a:off x="4168064" y="1810512"/>
            <a:ext cx="1699184" cy="256032"/>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7 experiments</a:t>
            </a:r>
            <a:endParaRPr lang="en-US" sz="1100" dirty="0"/>
          </a:p>
        </p:txBody>
      </p:sp>
      <p:sp>
        <p:nvSpPr>
          <p:cNvPr id="14" name="Shape 12"/>
          <p:cNvSpPr/>
          <p:nvPr/>
        </p:nvSpPr>
        <p:spPr>
          <a:xfrm>
            <a:off x="6187288" y="1371600"/>
            <a:ext cx="2613584" cy="841248"/>
          </a:xfrm>
          <a:prstGeom prst="roundRect">
            <a:avLst>
              <a:gd name="adj" fmla="val 9783"/>
            </a:avLst>
          </a:prstGeom>
          <a:solidFill>
            <a:srgbClr val="F4F7F9"/>
          </a:solidFill>
          <a:ln w="12700">
            <a:solidFill>
              <a:srgbClr val="F4F7F9"/>
            </a:solidFill>
            <a:prstDash val="solid"/>
          </a:ln>
        </p:spPr>
      </p:sp>
      <p:sp>
        <p:nvSpPr>
          <p:cNvPr id="15" name="Shape 13"/>
          <p:cNvSpPr/>
          <p:nvPr/>
        </p:nvSpPr>
        <p:spPr>
          <a:xfrm>
            <a:off x="6351880" y="1545336"/>
            <a:ext cx="493776" cy="493776"/>
          </a:xfrm>
          <a:prstGeom prst="ellipse">
            <a:avLst/>
          </a:prstGeom>
          <a:solidFill>
            <a:srgbClr val="0E5C7A"/>
          </a:solidFill>
          <a:ln w="12700">
            <a:solidFill>
              <a:srgbClr val="0E5C7A"/>
            </a:solidFill>
            <a:prstDash val="solid"/>
          </a:ln>
        </p:spPr>
      </p:sp>
      <p:sp>
        <p:nvSpPr>
          <p:cNvPr id="16" name="Text 14"/>
          <p:cNvSpPr txBox="1"/>
          <p:nvPr/>
        </p:nvSpPr>
        <p:spPr>
          <a:xfrm>
            <a:off x="6351880" y="1545336"/>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C</a:t>
            </a:r>
            <a:endParaRPr lang="en-US" sz="1700" dirty="0"/>
          </a:p>
        </p:txBody>
      </p:sp>
      <p:sp>
        <p:nvSpPr>
          <p:cNvPr id="17" name="Text 15"/>
          <p:cNvSpPr txBox="1"/>
          <p:nvPr/>
        </p:nvSpPr>
        <p:spPr>
          <a:xfrm>
            <a:off x="6964528" y="1499616"/>
            <a:ext cx="1699184" cy="310896"/>
          </a:xfrm>
          <a:prstGeom prst="rect">
            <a:avLst/>
          </a:prstGeom>
          <a:noFill/>
          <a:ln/>
        </p:spPr>
        <p:txBody>
          <a:bodyPr wrap="square" lIns="0" tIns="0" rIns="0" bIns="0" rtlCol="0" anchor="ctr"/>
          <a:lstStyle/>
          <a:p>
            <a:pPr indent="0" marL="0">
              <a:buNone/>
            </a:pPr>
            <a:r>
              <a:rPr lang="en-US" sz="1350" b="1" dirty="0">
                <a:solidFill>
                  <a:srgbClr val="24313D"/>
                </a:solidFill>
                <a:latin typeface="Cambria" pitchFamily="34" charset="0"/>
                <a:ea typeface="Cambria" pitchFamily="34" charset="-122"/>
                <a:cs typeface="Cambria" pitchFamily="34" charset="-120"/>
              </a:rPr>
              <a:t>Evidence pathway</a:t>
            </a:r>
            <a:endParaRPr lang="en-US" sz="1350" dirty="0"/>
          </a:p>
        </p:txBody>
      </p:sp>
      <p:sp>
        <p:nvSpPr>
          <p:cNvPr id="18" name="Text 16"/>
          <p:cNvSpPr txBox="1"/>
          <p:nvPr/>
        </p:nvSpPr>
        <p:spPr>
          <a:xfrm>
            <a:off x="6964528" y="1810512"/>
            <a:ext cx="1699184" cy="256032"/>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4 experiments</a:t>
            </a:r>
            <a:endParaRPr lang="en-US" sz="1100" dirty="0"/>
          </a:p>
        </p:txBody>
      </p:sp>
      <p:sp>
        <p:nvSpPr>
          <p:cNvPr id="19" name="Shape 17"/>
          <p:cNvSpPr/>
          <p:nvPr/>
        </p:nvSpPr>
        <p:spPr>
          <a:xfrm>
            <a:off x="8983751" y="1371600"/>
            <a:ext cx="2613584" cy="841248"/>
          </a:xfrm>
          <a:prstGeom prst="roundRect">
            <a:avLst>
              <a:gd name="adj" fmla="val 9783"/>
            </a:avLst>
          </a:prstGeom>
          <a:solidFill>
            <a:srgbClr val="F4F7F9"/>
          </a:solidFill>
          <a:ln w="12700">
            <a:solidFill>
              <a:srgbClr val="F4F7F9"/>
            </a:solidFill>
            <a:prstDash val="solid"/>
          </a:ln>
        </p:spPr>
      </p:sp>
      <p:sp>
        <p:nvSpPr>
          <p:cNvPr id="20" name="Shape 18"/>
          <p:cNvSpPr/>
          <p:nvPr/>
        </p:nvSpPr>
        <p:spPr>
          <a:xfrm>
            <a:off x="9148343" y="1545336"/>
            <a:ext cx="493776" cy="493776"/>
          </a:xfrm>
          <a:prstGeom prst="ellipse">
            <a:avLst/>
          </a:prstGeom>
          <a:solidFill>
            <a:srgbClr val="0E5C7A"/>
          </a:solidFill>
          <a:ln w="12700">
            <a:solidFill>
              <a:srgbClr val="0E5C7A"/>
            </a:solidFill>
            <a:prstDash val="solid"/>
          </a:ln>
        </p:spPr>
      </p:sp>
      <p:sp>
        <p:nvSpPr>
          <p:cNvPr id="21" name="Text 19"/>
          <p:cNvSpPr txBox="1"/>
          <p:nvPr/>
        </p:nvSpPr>
        <p:spPr>
          <a:xfrm>
            <a:off x="9148343" y="1545336"/>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D</a:t>
            </a:r>
            <a:endParaRPr lang="en-US" sz="1700" dirty="0"/>
          </a:p>
        </p:txBody>
      </p:sp>
      <p:sp>
        <p:nvSpPr>
          <p:cNvPr id="22" name="Text 20"/>
          <p:cNvSpPr txBox="1"/>
          <p:nvPr/>
        </p:nvSpPr>
        <p:spPr>
          <a:xfrm>
            <a:off x="9760991" y="1499616"/>
            <a:ext cx="1699184" cy="310896"/>
          </a:xfrm>
          <a:prstGeom prst="rect">
            <a:avLst/>
          </a:prstGeom>
          <a:noFill/>
          <a:ln/>
        </p:spPr>
        <p:txBody>
          <a:bodyPr wrap="square" lIns="0" tIns="0" rIns="0" bIns="0" rtlCol="0" anchor="ctr"/>
          <a:lstStyle/>
          <a:p>
            <a:pPr indent="0" marL="0">
              <a:buNone/>
            </a:pPr>
            <a:r>
              <a:rPr lang="en-US" sz="1350" b="1" dirty="0">
                <a:solidFill>
                  <a:srgbClr val="24313D"/>
                </a:solidFill>
                <a:latin typeface="Cambria" pitchFamily="34" charset="0"/>
                <a:ea typeface="Cambria" pitchFamily="34" charset="-122"/>
                <a:cs typeface="Cambria" pitchFamily="34" charset="-120"/>
              </a:rPr>
              <a:t>Calibration</a:t>
            </a:r>
            <a:endParaRPr lang="en-US" sz="1350" dirty="0"/>
          </a:p>
        </p:txBody>
      </p:sp>
      <p:sp>
        <p:nvSpPr>
          <p:cNvPr id="23" name="Text 21"/>
          <p:cNvSpPr txBox="1"/>
          <p:nvPr/>
        </p:nvSpPr>
        <p:spPr>
          <a:xfrm>
            <a:off x="9760991" y="1810512"/>
            <a:ext cx="1699184" cy="256032"/>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4 experiments</a:t>
            </a:r>
            <a:endParaRPr lang="en-US" sz="1100" dirty="0"/>
          </a:p>
        </p:txBody>
      </p:sp>
      <p:sp>
        <p:nvSpPr>
          <p:cNvPr id="24" name="Shape 22"/>
          <p:cNvSpPr/>
          <p:nvPr/>
        </p:nvSpPr>
        <p:spPr>
          <a:xfrm>
            <a:off x="594360" y="2359152"/>
            <a:ext cx="2613584" cy="841248"/>
          </a:xfrm>
          <a:prstGeom prst="roundRect">
            <a:avLst>
              <a:gd name="adj" fmla="val 9783"/>
            </a:avLst>
          </a:prstGeom>
          <a:solidFill>
            <a:srgbClr val="F4F7F9"/>
          </a:solidFill>
          <a:ln w="12700">
            <a:solidFill>
              <a:srgbClr val="F4F7F9"/>
            </a:solidFill>
            <a:prstDash val="solid"/>
          </a:ln>
        </p:spPr>
      </p:sp>
      <p:sp>
        <p:nvSpPr>
          <p:cNvPr id="25" name="Shape 23"/>
          <p:cNvSpPr/>
          <p:nvPr/>
        </p:nvSpPr>
        <p:spPr>
          <a:xfrm>
            <a:off x="758952" y="2532888"/>
            <a:ext cx="493776" cy="493776"/>
          </a:xfrm>
          <a:prstGeom prst="ellipse">
            <a:avLst/>
          </a:prstGeom>
          <a:solidFill>
            <a:srgbClr val="0E5C7A"/>
          </a:solidFill>
          <a:ln w="12700">
            <a:solidFill>
              <a:srgbClr val="0E5C7A"/>
            </a:solidFill>
            <a:prstDash val="solid"/>
          </a:ln>
        </p:spPr>
      </p:sp>
      <p:sp>
        <p:nvSpPr>
          <p:cNvPr id="26" name="Text 24"/>
          <p:cNvSpPr txBox="1"/>
          <p:nvPr/>
        </p:nvSpPr>
        <p:spPr>
          <a:xfrm>
            <a:off x="758952" y="2532888"/>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E</a:t>
            </a:r>
            <a:endParaRPr lang="en-US" sz="1700" dirty="0"/>
          </a:p>
        </p:txBody>
      </p:sp>
      <p:sp>
        <p:nvSpPr>
          <p:cNvPr id="27" name="Text 25"/>
          <p:cNvSpPr txBox="1"/>
          <p:nvPr/>
        </p:nvSpPr>
        <p:spPr>
          <a:xfrm>
            <a:off x="1371600" y="2487168"/>
            <a:ext cx="1699184" cy="310896"/>
          </a:xfrm>
          <a:prstGeom prst="rect">
            <a:avLst/>
          </a:prstGeom>
          <a:noFill/>
          <a:ln/>
        </p:spPr>
        <p:txBody>
          <a:bodyPr wrap="square" lIns="0" tIns="0" rIns="0" bIns="0" rtlCol="0" anchor="ctr"/>
          <a:lstStyle/>
          <a:p>
            <a:pPr indent="0" marL="0">
              <a:buNone/>
            </a:pPr>
            <a:r>
              <a:rPr lang="en-US" sz="1350" b="1" dirty="0">
                <a:solidFill>
                  <a:srgbClr val="24313D"/>
                </a:solidFill>
                <a:latin typeface="Cambria" pitchFamily="34" charset="0"/>
                <a:ea typeface="Cambria" pitchFamily="34" charset="-122"/>
                <a:cs typeface="Cambria" pitchFamily="34" charset="-120"/>
              </a:rPr>
              <a:t>Faithfulness</a:t>
            </a:r>
            <a:endParaRPr lang="en-US" sz="1350" dirty="0"/>
          </a:p>
        </p:txBody>
      </p:sp>
      <p:sp>
        <p:nvSpPr>
          <p:cNvPr id="28" name="Text 26"/>
          <p:cNvSpPr txBox="1"/>
          <p:nvPr/>
        </p:nvSpPr>
        <p:spPr>
          <a:xfrm>
            <a:off x="1371600" y="2798064"/>
            <a:ext cx="1699184" cy="256032"/>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3 experiments</a:t>
            </a:r>
            <a:endParaRPr lang="en-US" sz="1100" dirty="0"/>
          </a:p>
        </p:txBody>
      </p:sp>
      <p:sp>
        <p:nvSpPr>
          <p:cNvPr id="29" name="Shape 27"/>
          <p:cNvSpPr/>
          <p:nvPr/>
        </p:nvSpPr>
        <p:spPr>
          <a:xfrm>
            <a:off x="3390824" y="2359152"/>
            <a:ext cx="2613584" cy="841248"/>
          </a:xfrm>
          <a:prstGeom prst="roundRect">
            <a:avLst>
              <a:gd name="adj" fmla="val 9783"/>
            </a:avLst>
          </a:prstGeom>
          <a:solidFill>
            <a:srgbClr val="F4F7F9"/>
          </a:solidFill>
          <a:ln w="12700">
            <a:solidFill>
              <a:srgbClr val="F4F7F9"/>
            </a:solidFill>
            <a:prstDash val="solid"/>
          </a:ln>
        </p:spPr>
      </p:sp>
      <p:sp>
        <p:nvSpPr>
          <p:cNvPr id="30" name="Shape 28"/>
          <p:cNvSpPr/>
          <p:nvPr/>
        </p:nvSpPr>
        <p:spPr>
          <a:xfrm>
            <a:off x="3555416" y="2532888"/>
            <a:ext cx="493776" cy="493776"/>
          </a:xfrm>
          <a:prstGeom prst="ellipse">
            <a:avLst/>
          </a:prstGeom>
          <a:solidFill>
            <a:srgbClr val="0E5C7A"/>
          </a:solidFill>
          <a:ln w="12700">
            <a:solidFill>
              <a:srgbClr val="0E5C7A"/>
            </a:solidFill>
            <a:prstDash val="solid"/>
          </a:ln>
        </p:spPr>
      </p:sp>
      <p:sp>
        <p:nvSpPr>
          <p:cNvPr id="31" name="Text 29"/>
          <p:cNvSpPr txBox="1"/>
          <p:nvPr/>
        </p:nvSpPr>
        <p:spPr>
          <a:xfrm>
            <a:off x="3555416" y="2532888"/>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F</a:t>
            </a:r>
            <a:endParaRPr lang="en-US" sz="1700" dirty="0"/>
          </a:p>
        </p:txBody>
      </p:sp>
      <p:sp>
        <p:nvSpPr>
          <p:cNvPr id="32" name="Text 30"/>
          <p:cNvSpPr txBox="1"/>
          <p:nvPr/>
        </p:nvSpPr>
        <p:spPr>
          <a:xfrm>
            <a:off x="4168064" y="2487168"/>
            <a:ext cx="1699184" cy="310896"/>
          </a:xfrm>
          <a:prstGeom prst="rect">
            <a:avLst/>
          </a:prstGeom>
          <a:noFill/>
          <a:ln/>
        </p:spPr>
        <p:txBody>
          <a:bodyPr wrap="square" lIns="0" tIns="0" rIns="0" bIns="0" rtlCol="0" anchor="ctr"/>
          <a:lstStyle/>
          <a:p>
            <a:pPr indent="0" marL="0">
              <a:buNone/>
            </a:pPr>
            <a:r>
              <a:rPr lang="en-US" sz="1350" b="1" dirty="0">
                <a:solidFill>
                  <a:srgbClr val="24313D"/>
                </a:solidFill>
                <a:latin typeface="Cambria" pitchFamily="34" charset="0"/>
                <a:ea typeface="Cambria" pitchFamily="34" charset="-122"/>
                <a:cs typeface="Cambria" pitchFamily="34" charset="-120"/>
              </a:rPr>
              <a:t>Selective triage</a:t>
            </a:r>
            <a:endParaRPr lang="en-US" sz="1350" dirty="0"/>
          </a:p>
        </p:txBody>
      </p:sp>
      <p:sp>
        <p:nvSpPr>
          <p:cNvPr id="33" name="Text 31"/>
          <p:cNvSpPr txBox="1"/>
          <p:nvPr/>
        </p:nvSpPr>
        <p:spPr>
          <a:xfrm>
            <a:off x="4168064" y="2798064"/>
            <a:ext cx="1699184" cy="256032"/>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5 experiments</a:t>
            </a:r>
            <a:endParaRPr lang="en-US" sz="1100" dirty="0"/>
          </a:p>
        </p:txBody>
      </p:sp>
      <p:sp>
        <p:nvSpPr>
          <p:cNvPr id="34" name="Shape 32"/>
          <p:cNvSpPr/>
          <p:nvPr/>
        </p:nvSpPr>
        <p:spPr>
          <a:xfrm>
            <a:off x="6187288" y="2359152"/>
            <a:ext cx="2613584" cy="841248"/>
          </a:xfrm>
          <a:prstGeom prst="roundRect">
            <a:avLst>
              <a:gd name="adj" fmla="val 9783"/>
            </a:avLst>
          </a:prstGeom>
          <a:solidFill>
            <a:srgbClr val="F4F7F9"/>
          </a:solidFill>
          <a:ln w="12700">
            <a:solidFill>
              <a:srgbClr val="F4F7F9"/>
            </a:solidFill>
            <a:prstDash val="solid"/>
          </a:ln>
        </p:spPr>
      </p:sp>
      <p:sp>
        <p:nvSpPr>
          <p:cNvPr id="35" name="Shape 33"/>
          <p:cNvSpPr/>
          <p:nvPr/>
        </p:nvSpPr>
        <p:spPr>
          <a:xfrm>
            <a:off x="6351880" y="2532888"/>
            <a:ext cx="493776" cy="493776"/>
          </a:xfrm>
          <a:prstGeom prst="ellipse">
            <a:avLst/>
          </a:prstGeom>
          <a:solidFill>
            <a:srgbClr val="0E5C7A"/>
          </a:solidFill>
          <a:ln w="12700">
            <a:solidFill>
              <a:srgbClr val="0E5C7A"/>
            </a:solidFill>
            <a:prstDash val="solid"/>
          </a:ln>
        </p:spPr>
      </p:sp>
      <p:sp>
        <p:nvSpPr>
          <p:cNvPr id="36" name="Text 34"/>
          <p:cNvSpPr txBox="1"/>
          <p:nvPr/>
        </p:nvSpPr>
        <p:spPr>
          <a:xfrm>
            <a:off x="6351880" y="2532888"/>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G</a:t>
            </a:r>
            <a:endParaRPr lang="en-US" sz="1700" dirty="0"/>
          </a:p>
        </p:txBody>
      </p:sp>
      <p:sp>
        <p:nvSpPr>
          <p:cNvPr id="37" name="Text 35"/>
          <p:cNvSpPr txBox="1"/>
          <p:nvPr/>
        </p:nvSpPr>
        <p:spPr>
          <a:xfrm>
            <a:off x="6964528" y="2487168"/>
            <a:ext cx="1699184" cy="310896"/>
          </a:xfrm>
          <a:prstGeom prst="rect">
            <a:avLst/>
          </a:prstGeom>
          <a:noFill/>
          <a:ln/>
        </p:spPr>
        <p:txBody>
          <a:bodyPr wrap="square" lIns="0" tIns="0" rIns="0" bIns="0" rtlCol="0" anchor="ctr"/>
          <a:lstStyle/>
          <a:p>
            <a:pPr indent="0" marL="0">
              <a:buNone/>
            </a:pPr>
            <a:r>
              <a:rPr lang="en-US" sz="1350" b="1" dirty="0">
                <a:solidFill>
                  <a:srgbClr val="24313D"/>
                </a:solidFill>
                <a:latin typeface="Cambria" pitchFamily="34" charset="0"/>
                <a:ea typeface="Cambria" pitchFamily="34" charset="-122"/>
                <a:cs typeface="Cambria" pitchFamily="34" charset="-120"/>
              </a:rPr>
              <a:t>Error analysis</a:t>
            </a:r>
            <a:endParaRPr lang="en-US" sz="1350" dirty="0"/>
          </a:p>
        </p:txBody>
      </p:sp>
      <p:sp>
        <p:nvSpPr>
          <p:cNvPr id="38" name="Text 36"/>
          <p:cNvSpPr txBox="1"/>
          <p:nvPr/>
        </p:nvSpPr>
        <p:spPr>
          <a:xfrm>
            <a:off x="6964528" y="2798064"/>
            <a:ext cx="1699184" cy="256032"/>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3 experiments</a:t>
            </a:r>
            <a:endParaRPr lang="en-US" sz="1100" dirty="0"/>
          </a:p>
        </p:txBody>
      </p:sp>
      <p:sp>
        <p:nvSpPr>
          <p:cNvPr id="39" name="Shape 37"/>
          <p:cNvSpPr/>
          <p:nvPr/>
        </p:nvSpPr>
        <p:spPr>
          <a:xfrm>
            <a:off x="8983751" y="2359152"/>
            <a:ext cx="2613584" cy="841248"/>
          </a:xfrm>
          <a:prstGeom prst="roundRect">
            <a:avLst>
              <a:gd name="adj" fmla="val 9783"/>
            </a:avLst>
          </a:prstGeom>
          <a:solidFill>
            <a:srgbClr val="F4F7F9"/>
          </a:solidFill>
          <a:ln w="12700">
            <a:solidFill>
              <a:srgbClr val="F4F7F9"/>
            </a:solidFill>
            <a:prstDash val="solid"/>
          </a:ln>
        </p:spPr>
      </p:sp>
      <p:sp>
        <p:nvSpPr>
          <p:cNvPr id="40" name="Shape 38"/>
          <p:cNvSpPr/>
          <p:nvPr/>
        </p:nvSpPr>
        <p:spPr>
          <a:xfrm>
            <a:off x="9148343" y="2532888"/>
            <a:ext cx="493776" cy="493776"/>
          </a:xfrm>
          <a:prstGeom prst="ellipse">
            <a:avLst/>
          </a:prstGeom>
          <a:solidFill>
            <a:srgbClr val="0E5C7A"/>
          </a:solidFill>
          <a:ln w="12700">
            <a:solidFill>
              <a:srgbClr val="0E5C7A"/>
            </a:solidFill>
            <a:prstDash val="solid"/>
          </a:ln>
        </p:spPr>
      </p:sp>
      <p:sp>
        <p:nvSpPr>
          <p:cNvPr id="41" name="Text 39"/>
          <p:cNvSpPr txBox="1"/>
          <p:nvPr/>
        </p:nvSpPr>
        <p:spPr>
          <a:xfrm>
            <a:off x="9148343" y="2532888"/>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H</a:t>
            </a:r>
            <a:endParaRPr lang="en-US" sz="1700" dirty="0"/>
          </a:p>
        </p:txBody>
      </p:sp>
      <p:sp>
        <p:nvSpPr>
          <p:cNvPr id="42" name="Text 40"/>
          <p:cNvSpPr txBox="1"/>
          <p:nvPr/>
        </p:nvSpPr>
        <p:spPr>
          <a:xfrm>
            <a:off x="9760991" y="2487168"/>
            <a:ext cx="1699184" cy="310896"/>
          </a:xfrm>
          <a:prstGeom prst="rect">
            <a:avLst/>
          </a:prstGeom>
          <a:noFill/>
          <a:ln/>
        </p:spPr>
        <p:txBody>
          <a:bodyPr wrap="square" lIns="0" tIns="0" rIns="0" bIns="0" rtlCol="0" anchor="ctr"/>
          <a:lstStyle/>
          <a:p>
            <a:pPr indent="0" marL="0">
              <a:buNone/>
            </a:pPr>
            <a:r>
              <a:rPr lang="en-US" sz="1350" b="1" dirty="0">
                <a:solidFill>
                  <a:srgbClr val="24313D"/>
                </a:solidFill>
                <a:latin typeface="Cambria" pitchFamily="34" charset="0"/>
                <a:ea typeface="Cambria" pitchFamily="34" charset="-122"/>
                <a:cs typeface="Cambria" pitchFamily="34" charset="-120"/>
              </a:rPr>
              <a:t>Benchmark</a:t>
            </a:r>
            <a:endParaRPr lang="en-US" sz="1350" dirty="0"/>
          </a:p>
        </p:txBody>
      </p:sp>
      <p:sp>
        <p:nvSpPr>
          <p:cNvPr id="43" name="Text 41"/>
          <p:cNvSpPr txBox="1"/>
          <p:nvPr/>
        </p:nvSpPr>
        <p:spPr>
          <a:xfrm>
            <a:off x="9760991" y="2798064"/>
            <a:ext cx="1699184" cy="256032"/>
          </a:xfrm>
          <a:prstGeom prst="rect">
            <a:avLst/>
          </a:prstGeom>
          <a:noFill/>
          <a:ln/>
        </p:spPr>
        <p:txBody>
          <a:bodyPr wrap="square" lIns="0" tIns="0" rIns="0" bIns="0" rtlCol="0" anchor="ctr"/>
          <a:lstStyle/>
          <a:p>
            <a:pPr indent="0" marL="0">
              <a:buNone/>
            </a:pPr>
            <a:r>
              <a:rPr lang="en-US" sz="1100" dirty="0">
                <a:solidFill>
                  <a:srgbClr val="5A6B78"/>
                </a:solidFill>
                <a:latin typeface="Calibri" pitchFamily="34" charset="0"/>
                <a:ea typeface="Calibri" pitchFamily="34" charset="-122"/>
                <a:cs typeface="Calibri" pitchFamily="34" charset="-120"/>
              </a:rPr>
              <a:t>1 experiment</a:t>
            </a:r>
            <a:endParaRPr lang="en-US" sz="1100" dirty="0"/>
          </a:p>
        </p:txBody>
      </p:sp>
      <p:sp>
        <p:nvSpPr>
          <p:cNvPr id="44" name="Text 42"/>
          <p:cNvSpPr txBox="1"/>
          <p:nvPr/>
        </p:nvSpPr>
        <p:spPr>
          <a:xfrm>
            <a:off x="594360" y="3493008"/>
            <a:ext cx="11002975" cy="320040"/>
          </a:xfrm>
          <a:prstGeom prst="rect">
            <a:avLst/>
          </a:prstGeom>
          <a:noFill/>
          <a:ln/>
        </p:spPr>
        <p:txBody>
          <a:bodyPr wrap="square" lIns="0" tIns="0" rIns="0" bIns="0" rtlCol="0" anchor="ctr"/>
          <a:lstStyle/>
          <a:p>
            <a:pPr indent="0" marL="0">
              <a:buNone/>
            </a:pPr>
            <a:r>
              <a:rPr lang="en-US" sz="1200" b="1" spc="150" kern="0" dirty="0">
                <a:solidFill>
                  <a:srgbClr val="E8833A"/>
                </a:solidFill>
                <a:latin typeface="Calibri" pitchFamily="34" charset="0"/>
                <a:ea typeface="Calibri" pitchFamily="34" charset="-122"/>
                <a:cs typeface="Calibri" pitchFamily="34" charset="-120"/>
              </a:rPr>
              <a:t>Three of them decide the thesis</a:t>
            </a:r>
            <a:endParaRPr lang="en-US" sz="1200" dirty="0"/>
          </a:p>
        </p:txBody>
      </p:sp>
      <p:sp>
        <p:nvSpPr>
          <p:cNvPr id="45" name="Shape 43"/>
          <p:cNvSpPr/>
          <p:nvPr/>
        </p:nvSpPr>
        <p:spPr>
          <a:xfrm>
            <a:off x="594360" y="3840480"/>
            <a:ext cx="11002975" cy="566928"/>
          </a:xfrm>
          <a:prstGeom prst="roundRect">
            <a:avLst>
              <a:gd name="adj" fmla="val 14516"/>
            </a:avLst>
          </a:prstGeom>
          <a:solidFill>
            <a:srgbClr val="FDF0E4"/>
          </a:solidFill>
          <a:ln w="12700">
            <a:solidFill>
              <a:srgbClr val="FDF0E4"/>
            </a:solidFill>
            <a:prstDash val="solid"/>
          </a:ln>
        </p:spPr>
      </p:sp>
      <p:sp>
        <p:nvSpPr>
          <p:cNvPr id="46" name="Text 44"/>
          <p:cNvSpPr txBox="1"/>
          <p:nvPr/>
        </p:nvSpPr>
        <p:spPr>
          <a:xfrm>
            <a:off x="795528" y="3840480"/>
            <a:ext cx="640080" cy="566928"/>
          </a:xfrm>
          <a:prstGeom prst="rect">
            <a:avLst/>
          </a:prstGeom>
          <a:noFill/>
          <a:ln/>
        </p:spPr>
        <p:txBody>
          <a:bodyPr wrap="square" lIns="0" tIns="0" rIns="0" bIns="0" rtlCol="0" anchor="ctr"/>
          <a:lstStyle/>
          <a:p>
            <a:pPr algn="ctr" indent="0" marL="0">
              <a:buNone/>
            </a:pPr>
            <a:r>
              <a:rPr lang="en-US" sz="1700" b="1" dirty="0">
                <a:solidFill>
                  <a:srgbClr val="E8833A"/>
                </a:solidFill>
                <a:latin typeface="Cambria" pitchFamily="34" charset="0"/>
                <a:ea typeface="Cambria" pitchFamily="34" charset="-122"/>
                <a:cs typeface="Cambria" pitchFamily="34" charset="-120"/>
              </a:rPr>
              <a:t>F2</a:t>
            </a:r>
            <a:endParaRPr lang="en-US" sz="1700" dirty="0"/>
          </a:p>
        </p:txBody>
      </p:sp>
      <p:sp>
        <p:nvSpPr>
          <p:cNvPr id="47" name="Text 45"/>
          <p:cNvSpPr txBox="1"/>
          <p:nvPr/>
        </p:nvSpPr>
        <p:spPr>
          <a:xfrm>
            <a:off x="1508760" y="3840480"/>
            <a:ext cx="7223760" cy="566928"/>
          </a:xfrm>
          <a:prstGeom prst="rect">
            <a:avLst/>
          </a:prstGeom>
          <a:noFill/>
          <a:ln/>
        </p:spPr>
        <p:txBody>
          <a:bodyPr wrap="square" lIns="0" tIns="0" rIns="0" bIns="0" rtlCol="0" anchor="ctr"/>
          <a:lstStyle/>
          <a:p>
            <a:pPr indent="0" marL="0">
              <a:buNone/>
            </a:pPr>
            <a:r>
              <a:rPr lang="en-US" sz="1300" dirty="0">
                <a:solidFill>
                  <a:srgbClr val="24313D"/>
                </a:solidFill>
                <a:latin typeface="Calibri" pitchFamily="34" charset="0"/>
                <a:ea typeface="Calibri" pitchFamily="34" charset="-122"/>
                <a:cs typeface="Calibri" pitchFamily="34" charset="-120"/>
              </a:rPr>
              <a:t>Does disagreement-gating still win on a dataset the model has never seen?</a:t>
            </a:r>
            <a:endParaRPr lang="en-US" sz="1300" dirty="0"/>
          </a:p>
        </p:txBody>
      </p:sp>
      <p:sp>
        <p:nvSpPr>
          <p:cNvPr id="48" name="Text 46"/>
          <p:cNvSpPr txBox="1"/>
          <p:nvPr/>
        </p:nvSpPr>
        <p:spPr>
          <a:xfrm>
            <a:off x="8823960" y="3840480"/>
            <a:ext cx="2590495" cy="566928"/>
          </a:xfrm>
          <a:prstGeom prst="rect">
            <a:avLst/>
          </a:prstGeom>
          <a:noFill/>
          <a:ln/>
        </p:spPr>
        <p:txBody>
          <a:bodyPr wrap="square" lIns="0" tIns="0" rIns="0" bIns="0" rtlCol="0" anchor="ctr"/>
          <a:lstStyle/>
          <a:p>
            <a:pPr algn="r" indent="0" marL="0">
              <a:buNone/>
            </a:pPr>
            <a:r>
              <a:rPr lang="en-US" sz="1150" i="1" dirty="0">
                <a:solidFill>
                  <a:srgbClr val="5A6B78"/>
                </a:solidFill>
                <a:latin typeface="Calibri" pitchFamily="34" charset="0"/>
                <a:ea typeface="Calibri" pitchFamily="34" charset="-122"/>
                <a:cs typeface="Calibri" pitchFamily="34" charset="-120"/>
              </a:rPr>
              <a:t>The headline result</a:t>
            </a:r>
            <a:endParaRPr lang="en-US" sz="1150" dirty="0"/>
          </a:p>
        </p:txBody>
      </p:sp>
      <p:sp>
        <p:nvSpPr>
          <p:cNvPr id="49" name="Shape 47"/>
          <p:cNvSpPr/>
          <p:nvPr/>
        </p:nvSpPr>
        <p:spPr>
          <a:xfrm>
            <a:off x="594360" y="4498848"/>
            <a:ext cx="11002975" cy="566928"/>
          </a:xfrm>
          <a:prstGeom prst="roundRect">
            <a:avLst>
              <a:gd name="adj" fmla="val 14516"/>
            </a:avLst>
          </a:prstGeom>
          <a:solidFill>
            <a:srgbClr val="FDF0E4"/>
          </a:solidFill>
          <a:ln w="12700">
            <a:solidFill>
              <a:srgbClr val="FDF0E4"/>
            </a:solidFill>
            <a:prstDash val="solid"/>
          </a:ln>
        </p:spPr>
      </p:sp>
      <p:sp>
        <p:nvSpPr>
          <p:cNvPr id="50" name="Text 48"/>
          <p:cNvSpPr txBox="1"/>
          <p:nvPr/>
        </p:nvSpPr>
        <p:spPr>
          <a:xfrm>
            <a:off x="795528" y="4498848"/>
            <a:ext cx="640080" cy="566928"/>
          </a:xfrm>
          <a:prstGeom prst="rect">
            <a:avLst/>
          </a:prstGeom>
          <a:noFill/>
          <a:ln/>
        </p:spPr>
        <p:txBody>
          <a:bodyPr wrap="square" lIns="0" tIns="0" rIns="0" bIns="0" rtlCol="0" anchor="ctr"/>
          <a:lstStyle/>
          <a:p>
            <a:pPr algn="ctr" indent="0" marL="0">
              <a:buNone/>
            </a:pPr>
            <a:r>
              <a:rPr lang="en-US" sz="1700" b="1" dirty="0">
                <a:solidFill>
                  <a:srgbClr val="E8833A"/>
                </a:solidFill>
                <a:latin typeface="Cambria" pitchFamily="34" charset="0"/>
                <a:ea typeface="Cambria" pitchFamily="34" charset="-122"/>
                <a:cs typeface="Cambria" pitchFamily="34" charset="-120"/>
              </a:rPr>
              <a:t>E2</a:t>
            </a:r>
            <a:endParaRPr lang="en-US" sz="1700" dirty="0"/>
          </a:p>
        </p:txBody>
      </p:sp>
      <p:sp>
        <p:nvSpPr>
          <p:cNvPr id="51" name="Text 49"/>
          <p:cNvSpPr txBox="1"/>
          <p:nvPr/>
        </p:nvSpPr>
        <p:spPr>
          <a:xfrm>
            <a:off x="1508760" y="4498848"/>
            <a:ext cx="7223760" cy="566928"/>
          </a:xfrm>
          <a:prstGeom prst="rect">
            <a:avLst/>
          </a:prstGeom>
          <a:noFill/>
          <a:ln/>
        </p:spPr>
        <p:txBody>
          <a:bodyPr wrap="square" lIns="0" tIns="0" rIns="0" bIns="0" rtlCol="0" anchor="ctr"/>
          <a:lstStyle/>
          <a:p>
            <a:pPr indent="0" marL="0">
              <a:buNone/>
            </a:pPr>
            <a:r>
              <a:rPr lang="en-US" sz="1300" dirty="0">
                <a:solidFill>
                  <a:srgbClr val="24313D"/>
                </a:solidFill>
                <a:latin typeface="Calibri" pitchFamily="34" charset="0"/>
                <a:ea typeface="Calibri" pitchFamily="34" charset="-122"/>
                <a:cs typeface="Calibri" pitchFamily="34" charset="-120"/>
              </a:rPr>
              <a:t>Does removing the cited lesions change the grade more than removing random pixels?</a:t>
            </a:r>
            <a:endParaRPr lang="en-US" sz="1300" dirty="0"/>
          </a:p>
        </p:txBody>
      </p:sp>
      <p:sp>
        <p:nvSpPr>
          <p:cNvPr id="52" name="Text 50"/>
          <p:cNvSpPr txBox="1"/>
          <p:nvPr/>
        </p:nvSpPr>
        <p:spPr>
          <a:xfrm>
            <a:off x="8823960" y="4498848"/>
            <a:ext cx="2590495" cy="566928"/>
          </a:xfrm>
          <a:prstGeom prst="rect">
            <a:avLst/>
          </a:prstGeom>
          <a:noFill/>
          <a:ln/>
        </p:spPr>
        <p:txBody>
          <a:bodyPr wrap="square" lIns="0" tIns="0" rIns="0" bIns="0" rtlCol="0" anchor="ctr"/>
          <a:lstStyle/>
          <a:p>
            <a:pPr algn="r" indent="0" marL="0">
              <a:buNone/>
            </a:pPr>
            <a:r>
              <a:rPr lang="en-US" sz="1150" i="1" dirty="0">
                <a:solidFill>
                  <a:srgbClr val="5A6B78"/>
                </a:solidFill>
                <a:latin typeface="Calibri" pitchFamily="34" charset="0"/>
                <a:ea typeface="Calibri" pitchFamily="34" charset="-122"/>
                <a:cs typeface="Calibri" pitchFamily="34" charset="-120"/>
              </a:rPr>
              <a:t>Proves the explanation is real</a:t>
            </a:r>
            <a:endParaRPr lang="en-US" sz="1150" dirty="0"/>
          </a:p>
        </p:txBody>
      </p:sp>
      <p:sp>
        <p:nvSpPr>
          <p:cNvPr id="53" name="Shape 51"/>
          <p:cNvSpPr/>
          <p:nvPr/>
        </p:nvSpPr>
        <p:spPr>
          <a:xfrm>
            <a:off x="594360" y="5157216"/>
            <a:ext cx="11002975" cy="566928"/>
          </a:xfrm>
          <a:prstGeom prst="roundRect">
            <a:avLst>
              <a:gd name="adj" fmla="val 14516"/>
            </a:avLst>
          </a:prstGeom>
          <a:solidFill>
            <a:srgbClr val="FDF0E4"/>
          </a:solidFill>
          <a:ln w="12700">
            <a:solidFill>
              <a:srgbClr val="FDF0E4"/>
            </a:solidFill>
            <a:prstDash val="solid"/>
          </a:ln>
        </p:spPr>
      </p:sp>
      <p:sp>
        <p:nvSpPr>
          <p:cNvPr id="54" name="Text 52"/>
          <p:cNvSpPr txBox="1"/>
          <p:nvPr/>
        </p:nvSpPr>
        <p:spPr>
          <a:xfrm>
            <a:off x="795528" y="5157216"/>
            <a:ext cx="640080" cy="566928"/>
          </a:xfrm>
          <a:prstGeom prst="rect">
            <a:avLst/>
          </a:prstGeom>
          <a:noFill/>
          <a:ln/>
        </p:spPr>
        <p:txBody>
          <a:bodyPr wrap="square" lIns="0" tIns="0" rIns="0" bIns="0" rtlCol="0" anchor="ctr"/>
          <a:lstStyle/>
          <a:p>
            <a:pPr algn="ctr" indent="0" marL="0">
              <a:buNone/>
            </a:pPr>
            <a:r>
              <a:rPr lang="en-US" sz="1700" b="1" dirty="0">
                <a:solidFill>
                  <a:srgbClr val="E8833A"/>
                </a:solidFill>
                <a:latin typeface="Cambria" pitchFamily="34" charset="0"/>
                <a:ea typeface="Cambria" pitchFamily="34" charset="-122"/>
                <a:cs typeface="Cambria" pitchFamily="34" charset="-120"/>
              </a:rPr>
              <a:t>C4</a:t>
            </a:r>
            <a:endParaRPr lang="en-US" sz="1700" dirty="0"/>
          </a:p>
        </p:txBody>
      </p:sp>
      <p:sp>
        <p:nvSpPr>
          <p:cNvPr id="55" name="Text 53"/>
          <p:cNvSpPr txBox="1"/>
          <p:nvPr/>
        </p:nvSpPr>
        <p:spPr>
          <a:xfrm>
            <a:off x="1508760" y="5157216"/>
            <a:ext cx="7223760" cy="566928"/>
          </a:xfrm>
          <a:prstGeom prst="rect">
            <a:avLst/>
          </a:prstGeom>
          <a:noFill/>
          <a:ln/>
        </p:spPr>
        <p:txBody>
          <a:bodyPr wrap="square" lIns="0" tIns="0" rIns="0" bIns="0" rtlCol="0" anchor="ctr"/>
          <a:lstStyle/>
          <a:p>
            <a:pPr indent="0" marL="0">
              <a:buNone/>
            </a:pPr>
            <a:r>
              <a:rPr lang="en-US" sz="1300" dirty="0">
                <a:solidFill>
                  <a:srgbClr val="24313D"/>
                </a:solidFill>
                <a:latin typeface="Calibri" pitchFamily="34" charset="0"/>
                <a:ea typeface="Calibri" pitchFamily="34" charset="-122"/>
                <a:cs typeface="Calibri" pitchFamily="34" charset="-120"/>
              </a:rPr>
              <a:t>Is the evidence pathway informative but weaker than the grader?</a:t>
            </a:r>
            <a:endParaRPr lang="en-US" sz="1300" dirty="0"/>
          </a:p>
        </p:txBody>
      </p:sp>
      <p:sp>
        <p:nvSpPr>
          <p:cNvPr id="56" name="Text 54"/>
          <p:cNvSpPr txBox="1"/>
          <p:nvPr/>
        </p:nvSpPr>
        <p:spPr>
          <a:xfrm>
            <a:off x="8823960" y="5157216"/>
            <a:ext cx="2590495" cy="566928"/>
          </a:xfrm>
          <a:prstGeom prst="rect">
            <a:avLst/>
          </a:prstGeom>
          <a:noFill/>
          <a:ln/>
        </p:spPr>
        <p:txBody>
          <a:bodyPr wrap="square" lIns="0" tIns="0" rIns="0" bIns="0" rtlCol="0" anchor="ctr"/>
          <a:lstStyle/>
          <a:p>
            <a:pPr algn="r" indent="0" marL="0">
              <a:buNone/>
            </a:pPr>
            <a:r>
              <a:rPr lang="en-US" sz="1150" i="1" dirty="0">
                <a:solidFill>
                  <a:srgbClr val="5A6B78"/>
                </a:solidFill>
                <a:latin typeface="Calibri" pitchFamily="34" charset="0"/>
                <a:ea typeface="Calibri" pitchFamily="34" charset="-122"/>
                <a:cs typeface="Calibri" pitchFamily="34" charset="-120"/>
              </a:rPr>
              <a:t>The premise the idea rests on</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243B"/>
        </a:solidFill>
      </p:bgPr>
    </p:bg>
    <p:spTree>
      <p:nvGrpSpPr>
        <p:cNvPr id="1" name=""/>
        <p:cNvGrpSpPr/>
        <p:nvPr/>
      </p:nvGrpSpPr>
      <p:grpSpPr>
        <a:xfrm>
          <a:off x="0" y="0"/>
          <a:ext cx="0" cy="0"/>
          <a:chOff x="0" y="0"/>
          <a:chExt cx="0" cy="0"/>
        </a:xfrm>
      </p:grpSpPr>
      <p:sp>
        <p:nvSpPr>
          <p:cNvPr id="2" name="Shape 0"/>
          <p:cNvSpPr/>
          <p:nvPr/>
        </p:nvSpPr>
        <p:spPr>
          <a:xfrm>
            <a:off x="9509760" y="-1463040"/>
            <a:ext cx="4206240" cy="4206240"/>
          </a:xfrm>
          <a:prstGeom prst="ellipse">
            <a:avLst/>
          </a:prstGeom>
          <a:solidFill>
            <a:srgbClr val="E8833A">
              <a:alpha val="12000"/>
            </a:srgbClr>
          </a:solidFill>
          <a:ln w="12700">
            <a:solidFill>
              <a:srgbClr val="E8833A">
                <a:alpha val="0"/>
              </a:srgbClr>
            </a:solidFill>
            <a:prstDash val="solid"/>
          </a:ln>
        </p:spPr>
      </p:sp>
      <p:sp>
        <p:nvSpPr>
          <p:cNvPr id="3" name="Text 1"/>
          <p:cNvSpPr txBox="1"/>
          <p:nvPr/>
        </p:nvSpPr>
        <p:spPr>
          <a:xfrm>
            <a:off x="594360" y="457200"/>
            <a:ext cx="11002975" cy="320040"/>
          </a:xfrm>
          <a:prstGeom prst="rect">
            <a:avLst/>
          </a:prstGeom>
          <a:noFill/>
          <a:ln/>
        </p:spPr>
        <p:txBody>
          <a:bodyPr wrap="square" lIns="0" tIns="0" rIns="0" bIns="0" rtlCol="0" anchor="ctr"/>
          <a:lstStyle/>
          <a:p>
            <a:pPr indent="0" marL="0">
              <a:buNone/>
            </a:pPr>
            <a:r>
              <a:rPr lang="en-US" sz="1100" b="1" spc="300" kern="0" dirty="0">
                <a:solidFill>
                  <a:srgbClr val="E8833A"/>
                </a:solidFill>
                <a:latin typeface="Calibri" pitchFamily="34" charset="0"/>
                <a:ea typeface="Calibri" pitchFamily="34" charset="-122"/>
                <a:cs typeface="Calibri" pitchFamily="34" charset="-120"/>
              </a:rPr>
              <a:t>WHAT THIS CONTRIBUTES</a:t>
            </a:r>
            <a:endParaRPr lang="en-US" sz="1100" dirty="0"/>
          </a:p>
        </p:txBody>
      </p:sp>
      <p:sp>
        <p:nvSpPr>
          <p:cNvPr id="4" name="Text 2"/>
          <p:cNvSpPr txBox="1"/>
          <p:nvPr/>
        </p:nvSpPr>
        <p:spPr>
          <a:xfrm>
            <a:off x="594360" y="868680"/>
            <a:ext cx="10241280" cy="1051560"/>
          </a:xfrm>
          <a:prstGeom prst="rect">
            <a:avLst/>
          </a:prstGeom>
          <a:noFill/>
          <a:ln/>
        </p:spPr>
        <p:txBody>
          <a:bodyPr wrap="square" lIns="0" tIns="0" rIns="0" bIns="0" rtlCol="0" anchor="ctr"/>
          <a:lstStyle/>
          <a:p>
            <a:pPr indent="0" marL="0">
              <a:lnSpc>
                <a:spcPts val="3300"/>
              </a:lnSpc>
              <a:buNone/>
            </a:pPr>
            <a:r>
              <a:rPr lang="en-US" sz="2400" b="1" dirty="0">
                <a:solidFill>
                  <a:srgbClr val="FFFFFF"/>
                </a:solidFill>
                <a:latin typeface="Cambria" pitchFamily="34" charset="0"/>
                <a:ea typeface="Cambria" pitchFamily="34" charset="-122"/>
                <a:cs typeface="Cambria" pitchFamily="34" charset="-120"/>
              </a:rPr>
              <a:t>Lesion evidence has been used to make DR models more accurate.</a:t>
            </a:r>
            <a:endParaRPr lang="en-US" sz="2400" dirty="0"/>
          </a:p>
          <a:p>
            <a:pPr indent="0" marL="0">
              <a:lnSpc>
                <a:spcPts val="3300"/>
              </a:lnSpc>
              <a:buNone/>
            </a:pPr>
            <a:r>
              <a:rPr lang="en-US" sz="2400" b="1" dirty="0">
                <a:solidFill>
                  <a:srgbClr val="FFFFFF"/>
                </a:solidFill>
                <a:latin typeface="Cambria" pitchFamily="34" charset="0"/>
                <a:ea typeface="Cambria" pitchFamily="34" charset="-122"/>
                <a:cs typeface="Cambria" pitchFamily="34" charset="-120"/>
              </a:rPr>
              <a:t>This asks whether it can decide when to trust them.</a:t>
            </a:r>
            <a:endParaRPr lang="en-US" sz="2400" dirty="0"/>
          </a:p>
        </p:txBody>
      </p:sp>
      <p:sp>
        <p:nvSpPr>
          <p:cNvPr id="5" name="Shape 3"/>
          <p:cNvSpPr/>
          <p:nvPr/>
        </p:nvSpPr>
        <p:spPr>
          <a:xfrm>
            <a:off x="594360" y="2194560"/>
            <a:ext cx="566928" cy="566928"/>
          </a:xfrm>
          <a:prstGeom prst="ellipse">
            <a:avLst/>
          </a:prstGeom>
          <a:solidFill>
            <a:srgbClr val="E8833A"/>
          </a:solidFill>
          <a:ln w="12700">
            <a:solidFill>
              <a:srgbClr val="E8833A"/>
            </a:solidFill>
            <a:prstDash val="solid"/>
          </a:ln>
        </p:spPr>
      </p:sp>
      <p:sp>
        <p:nvSpPr>
          <p:cNvPr id="6" name="Text 4"/>
          <p:cNvSpPr txBox="1"/>
          <p:nvPr/>
        </p:nvSpPr>
        <p:spPr>
          <a:xfrm>
            <a:off x="594360" y="219456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7" name="Text 5"/>
          <p:cNvSpPr txBox="1"/>
          <p:nvPr/>
        </p:nvSpPr>
        <p:spPr>
          <a:xfrm>
            <a:off x="1371600" y="2176272"/>
            <a:ext cx="10058400" cy="347472"/>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A referral signal independent of the classifier</a:t>
            </a:r>
            <a:endParaRPr lang="en-US" sz="1650" dirty="0"/>
          </a:p>
        </p:txBody>
      </p:sp>
      <p:sp>
        <p:nvSpPr>
          <p:cNvPr id="8" name="Text 6"/>
          <p:cNvSpPr txBox="1"/>
          <p:nvPr/>
        </p:nvSpPr>
        <p:spPr>
          <a:xfrm>
            <a:off x="1371600" y="2542032"/>
            <a:ext cx="10058400" cy="548640"/>
          </a:xfrm>
          <a:prstGeom prst="rect">
            <a:avLst/>
          </a:prstGeom>
          <a:noFill/>
          <a:ln/>
        </p:spPr>
        <p:txBody>
          <a:bodyPr wrap="square" lIns="0" tIns="0" rIns="0" bIns="0" rtlCol="0" anchor="ctr"/>
          <a:lstStyle/>
          <a:p>
            <a:pPr indent="0" marL="0">
              <a:lnSpc>
                <a:spcPts val="1700"/>
              </a:lnSpc>
              <a:buNone/>
            </a:pPr>
            <a:r>
              <a:rPr lang="en-US" sz="1250" dirty="0">
                <a:solidFill>
                  <a:srgbClr val="8FAABC"/>
                </a:solidFill>
                <a:latin typeface="Calibri" pitchFamily="34" charset="0"/>
                <a:ea typeface="Calibri" pitchFamily="34" charset="-122"/>
                <a:cs typeface="Calibri" pitchFamily="34" charset="-120"/>
              </a:rPr>
              <a:t>Deferring on disagreement between two differently-supervised pathways, tested under dataset shift.</a:t>
            </a:r>
            <a:endParaRPr lang="en-US" sz="1250" dirty="0"/>
          </a:p>
        </p:txBody>
      </p:sp>
      <p:sp>
        <p:nvSpPr>
          <p:cNvPr id="9" name="Shape 7"/>
          <p:cNvSpPr/>
          <p:nvPr/>
        </p:nvSpPr>
        <p:spPr>
          <a:xfrm>
            <a:off x="594360" y="3218688"/>
            <a:ext cx="566928" cy="566928"/>
          </a:xfrm>
          <a:prstGeom prst="ellipse">
            <a:avLst/>
          </a:prstGeom>
          <a:solidFill>
            <a:srgbClr val="E8833A"/>
          </a:solidFill>
          <a:ln w="12700">
            <a:solidFill>
              <a:srgbClr val="E8833A"/>
            </a:solidFill>
            <a:prstDash val="solid"/>
          </a:ln>
        </p:spPr>
      </p:sp>
      <p:sp>
        <p:nvSpPr>
          <p:cNvPr id="10" name="Text 8"/>
          <p:cNvSpPr txBox="1"/>
          <p:nvPr/>
        </p:nvSpPr>
        <p:spPr>
          <a:xfrm>
            <a:off x="594360" y="3218688"/>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1" name="Text 9"/>
          <p:cNvSpPr txBox="1"/>
          <p:nvPr/>
        </p:nvSpPr>
        <p:spPr>
          <a:xfrm>
            <a:off x="1371600" y="3200400"/>
            <a:ext cx="10058400" cy="347472"/>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Calibration that survives a change of dataset</a:t>
            </a:r>
            <a:endParaRPr lang="en-US" sz="1650" dirty="0"/>
          </a:p>
        </p:txBody>
      </p:sp>
      <p:sp>
        <p:nvSpPr>
          <p:cNvPr id="12" name="Text 10"/>
          <p:cNvSpPr txBox="1"/>
          <p:nvPr/>
        </p:nvSpPr>
        <p:spPr>
          <a:xfrm>
            <a:off x="1371600" y="3566160"/>
            <a:ext cx="10058400" cy="548640"/>
          </a:xfrm>
          <a:prstGeom prst="rect">
            <a:avLst/>
          </a:prstGeom>
          <a:noFill/>
          <a:ln/>
        </p:spPr>
        <p:txBody>
          <a:bodyPr wrap="square" lIns="0" tIns="0" rIns="0" bIns="0" rtlCol="0" anchor="ctr"/>
          <a:lstStyle/>
          <a:p>
            <a:pPr indent="0" marL="0">
              <a:lnSpc>
                <a:spcPts val="1700"/>
              </a:lnSpc>
              <a:buNone/>
            </a:pPr>
            <a:r>
              <a:rPr lang="en-US" sz="1250" dirty="0">
                <a:solidFill>
                  <a:srgbClr val="8FAABC"/>
                </a:solidFill>
                <a:latin typeface="Calibri" pitchFamily="34" charset="0"/>
                <a:ea typeface="Calibri" pitchFamily="34" charset="-122"/>
                <a:cs typeface="Calibri" pitchFamily="34" charset="-120"/>
              </a:rPr>
              <a:t>Grade-0 prevalence moves from 73% to 49% between datasets. Correcting for that is what makes the probabilities usable.</a:t>
            </a:r>
            <a:endParaRPr lang="en-US" sz="1250" dirty="0"/>
          </a:p>
        </p:txBody>
      </p:sp>
      <p:sp>
        <p:nvSpPr>
          <p:cNvPr id="13" name="Shape 11"/>
          <p:cNvSpPr/>
          <p:nvPr/>
        </p:nvSpPr>
        <p:spPr>
          <a:xfrm>
            <a:off x="594360" y="4242816"/>
            <a:ext cx="566928" cy="566928"/>
          </a:xfrm>
          <a:prstGeom prst="ellipse">
            <a:avLst/>
          </a:prstGeom>
          <a:solidFill>
            <a:srgbClr val="E8833A"/>
          </a:solidFill>
          <a:ln w="12700">
            <a:solidFill>
              <a:srgbClr val="E8833A"/>
            </a:solidFill>
            <a:prstDash val="solid"/>
          </a:ln>
        </p:spPr>
      </p:sp>
      <p:sp>
        <p:nvSpPr>
          <p:cNvPr id="14" name="Text 12"/>
          <p:cNvSpPr txBox="1"/>
          <p:nvPr/>
        </p:nvSpPr>
        <p:spPr>
          <a:xfrm>
            <a:off x="594360" y="4242816"/>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15" name="Text 13"/>
          <p:cNvSpPr txBox="1"/>
          <p:nvPr/>
        </p:nvSpPr>
        <p:spPr>
          <a:xfrm>
            <a:off x="1371600" y="4224528"/>
            <a:ext cx="10058400" cy="347472"/>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A system that declares what it cannot see</a:t>
            </a:r>
            <a:endParaRPr lang="en-US" sz="1650" dirty="0"/>
          </a:p>
        </p:txBody>
      </p:sp>
      <p:sp>
        <p:nvSpPr>
          <p:cNvPr id="16" name="Text 14"/>
          <p:cNvSpPr txBox="1"/>
          <p:nvPr/>
        </p:nvSpPr>
        <p:spPr>
          <a:xfrm>
            <a:off x="1371600" y="4590288"/>
            <a:ext cx="10058400" cy="548640"/>
          </a:xfrm>
          <a:prstGeom prst="rect">
            <a:avLst/>
          </a:prstGeom>
          <a:noFill/>
          <a:ln/>
        </p:spPr>
        <p:txBody>
          <a:bodyPr wrap="square" lIns="0" tIns="0" rIns="0" bIns="0" rtlCol="0" anchor="ctr"/>
          <a:lstStyle/>
          <a:p>
            <a:pPr indent="0" marL="0">
              <a:lnSpc>
                <a:spcPts val="1700"/>
              </a:lnSpc>
              <a:buNone/>
            </a:pPr>
            <a:r>
              <a:rPr lang="en-US" sz="1250" dirty="0">
                <a:solidFill>
                  <a:srgbClr val="8FAABC"/>
                </a:solidFill>
                <a:latin typeface="Calibri" pitchFamily="34" charset="0"/>
                <a:ea typeface="Calibri" pitchFamily="34" charset="-122"/>
                <a:cs typeface="Calibri" pitchFamily="34" charset="-120"/>
              </a:rPr>
              <a:t>It names its blind spots and refuses to rule out disease on evidence it does not have.</a:t>
            </a:r>
            <a:endParaRPr lang="en-US" sz="1250" dirty="0"/>
          </a:p>
        </p:txBody>
      </p:sp>
      <p:sp>
        <p:nvSpPr>
          <p:cNvPr id="17" name="Shape 15"/>
          <p:cNvSpPr/>
          <p:nvPr/>
        </p:nvSpPr>
        <p:spPr>
          <a:xfrm>
            <a:off x="594360" y="5440680"/>
            <a:ext cx="11002975" cy="777240"/>
          </a:xfrm>
          <a:prstGeom prst="roundRect">
            <a:avLst>
              <a:gd name="adj" fmla="val 9412"/>
            </a:avLst>
          </a:prstGeom>
          <a:solidFill>
            <a:srgbClr val="1B3A57"/>
          </a:solidFill>
          <a:ln w="12700">
            <a:solidFill>
              <a:srgbClr val="1B3A57"/>
            </a:solidFill>
            <a:prstDash val="solid"/>
          </a:ln>
        </p:spPr>
      </p:sp>
      <p:sp>
        <p:nvSpPr>
          <p:cNvPr id="18" name="Text 16"/>
          <p:cNvSpPr txBox="1"/>
          <p:nvPr/>
        </p:nvSpPr>
        <p:spPr>
          <a:xfrm>
            <a:off x="1005840" y="5440680"/>
            <a:ext cx="10180015" cy="777240"/>
          </a:xfrm>
          <a:prstGeom prst="rect">
            <a:avLst/>
          </a:prstGeom>
          <a:noFill/>
          <a:ln/>
        </p:spPr>
        <p:txBody>
          <a:bodyPr wrap="square" lIns="0" tIns="0" rIns="0" bIns="0" rtlCol="0" anchor="ctr"/>
          <a:lstStyle/>
          <a:p>
            <a:pPr indent="0" marL="0">
              <a:buNone/>
            </a:pPr>
            <a:r>
              <a:rPr lang="en-US" sz="1400" i="1" dirty="0">
                <a:solidFill>
                  <a:srgbClr val="A8C5D6"/>
                </a:solidFill>
                <a:latin typeface="Calibri" pitchFamily="34" charset="0"/>
                <a:ea typeface="Calibri" pitchFamily="34" charset="-122"/>
                <a:cs typeface="Calibri" pitchFamily="34" charset="-120"/>
              </a:rPr>
              <a:t>Because the hypotheses are pre-registered, a negative result is still a result — and almost nobody publishes those in this field.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VERIFY-DR — Project Overview</dc:title>
  <dc:subject>PptxGenJS Presentation</dc:subject>
  <dc:creator>VERIFY-DR</dc:creator>
  <cp:lastModifiedBy>VERIFY-DR</cp:lastModifiedBy>
  <cp:revision>1</cp:revision>
  <dcterms:created xsi:type="dcterms:W3CDTF">2026-09-13T02:10:27Z</dcterms:created>
  <dcterms:modified xsi:type="dcterms:W3CDTF">2026-09-13T02:10:27Z</dcterms:modified>
</cp:coreProperties>
</file>